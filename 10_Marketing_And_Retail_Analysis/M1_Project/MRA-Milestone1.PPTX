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7" r:id="rId22"/>
    <p:sldId id="278" r:id="rId23"/>
    <p:sldId id="276"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4102066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64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389705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556BCF-17D3-4CD7-B9AA-3504DC533CCF}" type="datetimeFigureOut">
              <a:rPr lang="en-IN" smtClean="0"/>
              <a:t>03-09-2022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167745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556BCF-17D3-4CD7-B9AA-3504DC533CCF}" type="datetimeFigureOut">
              <a:rPr lang="en-IN" smtClean="0"/>
              <a:t>03-09-2022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175056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556BCF-17D3-4CD7-B9AA-3504DC533CCF}" type="datetimeFigureOut">
              <a:rPr lang="en-IN" smtClean="0"/>
              <a:t>03-09-2022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964049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556BCF-17D3-4CD7-B9AA-3504DC533CCF}" type="datetimeFigureOut">
              <a:rPr lang="en-IN" smtClean="0"/>
              <a:t>03-09-2022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2407286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556BCF-17D3-4CD7-B9AA-3504DC533CCF}" type="datetimeFigureOut">
              <a:rPr lang="en-IN" smtClean="0"/>
              <a:t>03-09-2022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1444220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556BCF-17D3-4CD7-B9AA-3504DC533CCF}" type="datetimeFigureOut">
              <a:rPr lang="en-IN" smtClean="0"/>
              <a:t>03-09-2022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799228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556BCF-17D3-4CD7-B9AA-3504DC533CCF}" type="datetimeFigureOut">
              <a:rPr lang="en-IN" smtClean="0"/>
              <a:t>03-09-2022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717898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811216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23495023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78319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556BCF-17D3-4CD7-B9AA-3504DC533CCF}" type="datetimeFigureOut">
              <a:rPr lang="en-IN" smtClean="0"/>
              <a:t>03-09-2022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2924933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556BCF-17D3-4CD7-B9AA-3504DC533CCF}" type="datetimeFigureOut">
              <a:rPr lang="en-IN" smtClean="0"/>
              <a:t>03-09-2022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035284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3246396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D556BCF-17D3-4CD7-B9AA-3504DC533CCF}" type="datetimeFigureOut">
              <a:rPr lang="en-IN" smtClean="0"/>
              <a:t>03-09-2022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0DE5A5-4FCD-477D-8FEB-C887DCEBB313}" type="slidenum">
              <a:rPr lang="en-IN" smtClean="0"/>
              <a:t>‹#›</a:t>
            </a:fld>
            <a:endParaRPr lang="en-IN"/>
          </a:p>
        </p:txBody>
      </p:sp>
    </p:spTree>
    <p:extLst>
      <p:ext uri="{BB962C8B-B14F-4D97-AF65-F5344CB8AC3E}">
        <p14:creationId xmlns:p14="http://schemas.microsoft.com/office/powerpoint/2010/main" val="1133566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D556BCF-17D3-4CD7-B9AA-3504DC533CCF}" type="datetimeFigureOut">
              <a:rPr lang="en-IN" smtClean="0"/>
              <a:t>03-09-2022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30DE5A5-4FCD-477D-8FEB-C887DCEBB313}" type="slidenum">
              <a:rPr lang="en-IN" smtClean="0"/>
              <a:t>‹#›</a:t>
            </a:fld>
            <a:endParaRPr lang="en-IN"/>
          </a:p>
        </p:txBody>
      </p:sp>
    </p:spTree>
    <p:extLst>
      <p:ext uri="{BB962C8B-B14F-4D97-AF65-F5344CB8AC3E}">
        <p14:creationId xmlns:p14="http://schemas.microsoft.com/office/powerpoint/2010/main" val="117449268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689E5-E9B1-AED5-630D-19C433795495}"/>
              </a:ext>
            </a:extLst>
          </p:cNvPr>
          <p:cNvSpPr>
            <a:spLocks noGrp="1"/>
          </p:cNvSpPr>
          <p:nvPr>
            <p:ph type="ctrTitle"/>
          </p:nvPr>
        </p:nvSpPr>
        <p:spPr/>
        <p:txBody>
          <a:bodyPr/>
          <a:lstStyle/>
          <a:p>
            <a:r>
              <a:rPr lang="en-IN" b="0" i="0" dirty="0">
                <a:solidFill>
                  <a:srgbClr val="000000"/>
                </a:solidFill>
                <a:effectLst/>
                <a:latin typeface="lato" panose="020F0502020204030203" pitchFamily="34" charset="0"/>
              </a:rPr>
              <a:t>MRA Project - Milestone 1</a:t>
            </a:r>
            <a:endParaRPr lang="en-IN" dirty="0"/>
          </a:p>
        </p:txBody>
      </p:sp>
      <p:sp>
        <p:nvSpPr>
          <p:cNvPr id="3" name="Subtitle 2">
            <a:extLst>
              <a:ext uri="{FF2B5EF4-FFF2-40B4-BE49-F238E27FC236}">
                <a16:creationId xmlns:a16="http://schemas.microsoft.com/office/drawing/2014/main" id="{CD1D72D4-EEAC-0337-5426-6D1518A7BF42}"/>
              </a:ext>
            </a:extLst>
          </p:cNvPr>
          <p:cNvSpPr>
            <a:spLocks noGrp="1"/>
          </p:cNvSpPr>
          <p:nvPr>
            <p:ph type="subTitle" idx="1"/>
          </p:nvPr>
        </p:nvSpPr>
        <p:spPr/>
        <p:txBody>
          <a:bodyPr/>
          <a:lstStyle/>
          <a:p>
            <a:r>
              <a:rPr lang="en-IN" dirty="0"/>
              <a:t>Great-Learning : </a:t>
            </a:r>
            <a:r>
              <a:rPr lang="en-IN" dirty="0" err="1"/>
              <a:t>Kiran.N</a:t>
            </a:r>
            <a:endParaRPr lang="en-IN" dirty="0"/>
          </a:p>
        </p:txBody>
      </p:sp>
    </p:spTree>
    <p:extLst>
      <p:ext uri="{BB962C8B-B14F-4D97-AF65-F5344CB8AC3E}">
        <p14:creationId xmlns:p14="http://schemas.microsoft.com/office/powerpoint/2010/main" val="626547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0E3F6-F780-567D-0BF3-9442AE6FE0B5}"/>
              </a:ext>
            </a:extLst>
          </p:cNvPr>
          <p:cNvSpPr>
            <a:spLocks noGrp="1"/>
          </p:cNvSpPr>
          <p:nvPr>
            <p:ph type="title"/>
          </p:nvPr>
        </p:nvSpPr>
        <p:spPr/>
        <p:txBody>
          <a:bodyPr/>
          <a:lstStyle/>
          <a:p>
            <a:r>
              <a:rPr lang="en-IN" dirty="0"/>
              <a:t>Table of Contents</a:t>
            </a:r>
          </a:p>
        </p:txBody>
      </p:sp>
      <p:sp>
        <p:nvSpPr>
          <p:cNvPr id="3" name="TextBox 2">
            <a:extLst>
              <a:ext uri="{FF2B5EF4-FFF2-40B4-BE49-F238E27FC236}">
                <a16:creationId xmlns:a16="http://schemas.microsoft.com/office/drawing/2014/main" id="{19C110CE-8401-1E0B-51B0-E182B0BFB331}"/>
              </a:ext>
            </a:extLst>
          </p:cNvPr>
          <p:cNvSpPr txBox="1"/>
          <p:nvPr/>
        </p:nvSpPr>
        <p:spPr>
          <a:xfrm>
            <a:off x="956603" y="2475913"/>
            <a:ext cx="10705514" cy="373031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Problem Statement</a:t>
            </a:r>
          </a:p>
          <a:p>
            <a:pPr marL="285750" indent="-28575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About Data</a:t>
            </a:r>
          </a:p>
          <a:p>
            <a:pPr marL="285750" indent="-28575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Exploratory Analysis</a:t>
            </a:r>
          </a:p>
          <a:p>
            <a:pPr marL="285750" indent="-28575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RFM Analysis</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RFM – Assumptions and Parameters Used</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KNIME Work Flow</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RFM  Metrics</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List of Best, Loyal, About to Churn and Lost Customers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4655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62921-E5BF-5F36-0742-E5298F593284}"/>
              </a:ext>
            </a:extLst>
          </p:cNvPr>
          <p:cNvSpPr>
            <a:spLocks noGrp="1"/>
          </p:cNvSpPr>
          <p:nvPr>
            <p:ph type="title"/>
          </p:nvPr>
        </p:nvSpPr>
        <p:spPr/>
        <p:txBody>
          <a:bodyPr/>
          <a:lstStyle/>
          <a:p>
            <a:r>
              <a:rPr lang="en-IN" dirty="0"/>
              <a:t>Problem Statement</a:t>
            </a:r>
          </a:p>
        </p:txBody>
      </p:sp>
      <p:sp>
        <p:nvSpPr>
          <p:cNvPr id="3" name="TextBox 2">
            <a:extLst>
              <a:ext uri="{FF2B5EF4-FFF2-40B4-BE49-F238E27FC236}">
                <a16:creationId xmlns:a16="http://schemas.microsoft.com/office/drawing/2014/main" id="{32329FF5-0A17-64CA-38F2-AB8265D144B9}"/>
              </a:ext>
            </a:extLst>
          </p:cNvPr>
          <p:cNvSpPr txBox="1"/>
          <p:nvPr/>
        </p:nvSpPr>
        <p:spPr>
          <a:xfrm>
            <a:off x="703384" y="3742007"/>
            <a:ext cx="11085341" cy="1421992"/>
          </a:xfrm>
          <a:prstGeom prst="rect">
            <a:avLst/>
          </a:prstGeom>
          <a:noFill/>
        </p:spPr>
        <p:txBody>
          <a:bodyPr wrap="square" rtlCol="0">
            <a:spAutoFit/>
          </a:bodyPr>
          <a:lstStyle/>
          <a:p>
            <a:pPr algn="just">
              <a:lnSpc>
                <a:spcPct val="150000"/>
              </a:lnSpc>
            </a:pPr>
            <a:r>
              <a:rPr lang="en-US" sz="2000" b="0" i="0" dirty="0">
                <a:solidFill>
                  <a:srgbClr val="000000"/>
                </a:solidFill>
                <a:effectLst/>
                <a:latin typeface="Times New Roman" panose="02020603050405020304" pitchFamily="18" charset="0"/>
                <a:cs typeface="Times New Roman" panose="02020603050405020304" pitchFamily="18" charset="0"/>
              </a:rPr>
              <a:t>An automobile parts manufacturing company has collected data of transactions for 3 years. They do not have any in-house data science team, thus they have hired you as their consultant. Your job is to use your magical data science skills to provide them with suitable insights about their data and their customers.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4922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43BFE-0B7A-59DA-66DC-C9305E1B6164}"/>
              </a:ext>
            </a:extLst>
          </p:cNvPr>
          <p:cNvSpPr>
            <a:spLocks noGrp="1"/>
          </p:cNvSpPr>
          <p:nvPr>
            <p:ph type="title"/>
          </p:nvPr>
        </p:nvSpPr>
        <p:spPr/>
        <p:txBody>
          <a:bodyPr/>
          <a:lstStyle/>
          <a:p>
            <a:r>
              <a:rPr lang="en-IN" dirty="0"/>
              <a:t>About Data</a:t>
            </a:r>
          </a:p>
        </p:txBody>
      </p:sp>
      <p:sp>
        <p:nvSpPr>
          <p:cNvPr id="3" name="TextBox 2">
            <a:extLst>
              <a:ext uri="{FF2B5EF4-FFF2-40B4-BE49-F238E27FC236}">
                <a16:creationId xmlns:a16="http://schemas.microsoft.com/office/drawing/2014/main" id="{C60D7E29-2812-433B-FA7E-33C7F60BE91C}"/>
              </a:ext>
            </a:extLst>
          </p:cNvPr>
          <p:cNvSpPr txBox="1"/>
          <p:nvPr/>
        </p:nvSpPr>
        <p:spPr>
          <a:xfrm>
            <a:off x="801858" y="2461846"/>
            <a:ext cx="11015004" cy="32686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the given dataset each row represent one transaction of a customer.</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Given dataset has 20 columns with 2747 rows of data.</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 of 20 columns, 5 are of integer type, 12 are of string/object type, 2 are of floating type and 1 is of date type.</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There are no null values present in the data.</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All these 2747 transactions are carried out by 89 Unique Customers.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Going forward we will group the data by customer name for RFM Analysis.</a:t>
            </a:r>
          </a:p>
        </p:txBody>
      </p:sp>
    </p:spTree>
    <p:extLst>
      <p:ext uri="{BB962C8B-B14F-4D97-AF65-F5344CB8AC3E}">
        <p14:creationId xmlns:p14="http://schemas.microsoft.com/office/powerpoint/2010/main" val="3342372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2B402-5FEB-4279-0D5C-9104B34B2B81}"/>
              </a:ext>
            </a:extLst>
          </p:cNvPr>
          <p:cNvSpPr>
            <a:spLocks noGrp="1"/>
          </p:cNvSpPr>
          <p:nvPr>
            <p:ph type="title"/>
          </p:nvPr>
        </p:nvSpPr>
        <p:spPr/>
        <p:txBody>
          <a:bodyPr/>
          <a:lstStyle/>
          <a:p>
            <a:r>
              <a:rPr lang="en-IN" dirty="0"/>
              <a:t>About Data [Cont..]</a:t>
            </a:r>
          </a:p>
        </p:txBody>
      </p:sp>
      <p:sp>
        <p:nvSpPr>
          <p:cNvPr id="3" name="TextBox 2">
            <a:extLst>
              <a:ext uri="{FF2B5EF4-FFF2-40B4-BE49-F238E27FC236}">
                <a16:creationId xmlns:a16="http://schemas.microsoft.com/office/drawing/2014/main" id="{61BB0ECC-1DDE-04C7-2D0B-324265E349B1}"/>
              </a:ext>
            </a:extLst>
          </p:cNvPr>
          <p:cNvSpPr txBox="1"/>
          <p:nvPr/>
        </p:nvSpPr>
        <p:spPr>
          <a:xfrm>
            <a:off x="1026942" y="2630658"/>
            <a:ext cx="551453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Descriptive Statistics of Numeric Columns</a:t>
            </a:r>
          </a:p>
        </p:txBody>
      </p:sp>
      <p:pic>
        <p:nvPicPr>
          <p:cNvPr id="5" name="Picture 4">
            <a:extLst>
              <a:ext uri="{FF2B5EF4-FFF2-40B4-BE49-F238E27FC236}">
                <a16:creationId xmlns:a16="http://schemas.microsoft.com/office/drawing/2014/main" id="{93757499-4FC2-9FE9-473B-B572A5BD1D2B}"/>
              </a:ext>
            </a:extLst>
          </p:cNvPr>
          <p:cNvPicPr>
            <a:picLocks noChangeAspect="1"/>
          </p:cNvPicPr>
          <p:nvPr/>
        </p:nvPicPr>
        <p:blipFill>
          <a:blip r:embed="rId2"/>
          <a:stretch>
            <a:fillRect/>
          </a:stretch>
        </p:blipFill>
        <p:spPr>
          <a:xfrm>
            <a:off x="777459" y="3429000"/>
            <a:ext cx="10951551" cy="3023746"/>
          </a:xfrm>
          <a:prstGeom prst="rect">
            <a:avLst/>
          </a:prstGeom>
        </p:spPr>
      </p:pic>
    </p:spTree>
    <p:extLst>
      <p:ext uri="{BB962C8B-B14F-4D97-AF65-F5344CB8AC3E}">
        <p14:creationId xmlns:p14="http://schemas.microsoft.com/office/powerpoint/2010/main" val="2008631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A922A-82C8-2C2B-1653-B400C55D981F}"/>
              </a:ext>
            </a:extLst>
          </p:cNvPr>
          <p:cNvSpPr>
            <a:spLocks noGrp="1"/>
          </p:cNvSpPr>
          <p:nvPr>
            <p:ph type="title"/>
          </p:nvPr>
        </p:nvSpPr>
        <p:spPr>
          <a:xfrm>
            <a:off x="1154954" y="973668"/>
            <a:ext cx="9001920" cy="706964"/>
          </a:xfrm>
        </p:spPr>
        <p:txBody>
          <a:bodyPr/>
          <a:lstStyle/>
          <a:p>
            <a:r>
              <a:rPr lang="en-IN" dirty="0"/>
              <a:t>Exploratory Analysis – Yearly Sales Trend</a:t>
            </a:r>
          </a:p>
        </p:txBody>
      </p:sp>
      <p:pic>
        <p:nvPicPr>
          <p:cNvPr id="5" name="Picture 4">
            <a:extLst>
              <a:ext uri="{FF2B5EF4-FFF2-40B4-BE49-F238E27FC236}">
                <a16:creationId xmlns:a16="http://schemas.microsoft.com/office/drawing/2014/main" id="{65F8058A-EF78-27D7-F246-2C7E2C80665D}"/>
              </a:ext>
            </a:extLst>
          </p:cNvPr>
          <p:cNvPicPr>
            <a:picLocks noChangeAspect="1"/>
          </p:cNvPicPr>
          <p:nvPr/>
        </p:nvPicPr>
        <p:blipFill>
          <a:blip r:embed="rId2"/>
          <a:stretch>
            <a:fillRect/>
          </a:stretch>
        </p:blipFill>
        <p:spPr>
          <a:xfrm>
            <a:off x="2922966" y="2776205"/>
            <a:ext cx="6346067" cy="3764490"/>
          </a:xfrm>
          <a:prstGeom prst="rect">
            <a:avLst/>
          </a:prstGeom>
        </p:spPr>
      </p:pic>
    </p:spTree>
    <p:extLst>
      <p:ext uri="{BB962C8B-B14F-4D97-AF65-F5344CB8AC3E}">
        <p14:creationId xmlns:p14="http://schemas.microsoft.com/office/powerpoint/2010/main" val="3555729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CFC3-A758-A3D8-7337-139231A8F41C}"/>
              </a:ext>
            </a:extLst>
          </p:cNvPr>
          <p:cNvSpPr>
            <a:spLocks noGrp="1"/>
          </p:cNvSpPr>
          <p:nvPr>
            <p:ph type="title"/>
          </p:nvPr>
        </p:nvSpPr>
        <p:spPr>
          <a:xfrm>
            <a:off x="1154954" y="973668"/>
            <a:ext cx="9747508" cy="706964"/>
          </a:xfrm>
        </p:spPr>
        <p:txBody>
          <a:bodyPr/>
          <a:lstStyle/>
          <a:p>
            <a:r>
              <a:rPr lang="en-IN" dirty="0"/>
              <a:t>Quarterly Sales Trend</a:t>
            </a:r>
          </a:p>
        </p:txBody>
      </p:sp>
      <p:pic>
        <p:nvPicPr>
          <p:cNvPr id="4" name="Picture 3">
            <a:extLst>
              <a:ext uri="{FF2B5EF4-FFF2-40B4-BE49-F238E27FC236}">
                <a16:creationId xmlns:a16="http://schemas.microsoft.com/office/drawing/2014/main" id="{6B77E88F-6309-A914-E1FD-7E254A570D47}"/>
              </a:ext>
            </a:extLst>
          </p:cNvPr>
          <p:cNvPicPr>
            <a:picLocks noChangeAspect="1"/>
          </p:cNvPicPr>
          <p:nvPr/>
        </p:nvPicPr>
        <p:blipFill>
          <a:blip r:embed="rId2"/>
          <a:stretch>
            <a:fillRect/>
          </a:stretch>
        </p:blipFill>
        <p:spPr>
          <a:xfrm>
            <a:off x="2903916" y="2590705"/>
            <a:ext cx="6384168" cy="3759319"/>
          </a:xfrm>
          <a:prstGeom prst="rect">
            <a:avLst/>
          </a:prstGeom>
        </p:spPr>
      </p:pic>
    </p:spTree>
    <p:extLst>
      <p:ext uri="{BB962C8B-B14F-4D97-AF65-F5344CB8AC3E}">
        <p14:creationId xmlns:p14="http://schemas.microsoft.com/office/powerpoint/2010/main" val="224490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B0677-D17B-0749-E410-9F57E4A3113F}"/>
              </a:ext>
            </a:extLst>
          </p:cNvPr>
          <p:cNvSpPr>
            <a:spLocks noGrp="1"/>
          </p:cNvSpPr>
          <p:nvPr>
            <p:ph type="title"/>
          </p:nvPr>
        </p:nvSpPr>
        <p:spPr/>
        <p:txBody>
          <a:bodyPr/>
          <a:lstStyle/>
          <a:p>
            <a:r>
              <a:rPr lang="en-IN" dirty="0"/>
              <a:t>Year Wise - Quarterly Sales Trend</a:t>
            </a:r>
          </a:p>
        </p:txBody>
      </p:sp>
      <p:pic>
        <p:nvPicPr>
          <p:cNvPr id="4" name="Picture 3">
            <a:extLst>
              <a:ext uri="{FF2B5EF4-FFF2-40B4-BE49-F238E27FC236}">
                <a16:creationId xmlns:a16="http://schemas.microsoft.com/office/drawing/2014/main" id="{4957A20C-F387-D520-F15A-3CDEC7AC6FC5}"/>
              </a:ext>
            </a:extLst>
          </p:cNvPr>
          <p:cNvPicPr>
            <a:picLocks noChangeAspect="1"/>
          </p:cNvPicPr>
          <p:nvPr/>
        </p:nvPicPr>
        <p:blipFill>
          <a:blip r:embed="rId2"/>
          <a:stretch>
            <a:fillRect/>
          </a:stretch>
        </p:blipFill>
        <p:spPr>
          <a:xfrm>
            <a:off x="2124221" y="2415820"/>
            <a:ext cx="8182122" cy="4323117"/>
          </a:xfrm>
          <a:prstGeom prst="rect">
            <a:avLst/>
          </a:prstGeom>
        </p:spPr>
      </p:pic>
    </p:spTree>
    <p:extLst>
      <p:ext uri="{BB962C8B-B14F-4D97-AF65-F5344CB8AC3E}">
        <p14:creationId xmlns:p14="http://schemas.microsoft.com/office/powerpoint/2010/main" val="4270953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389D-EFE0-4FC5-75F4-F8F415185957}"/>
              </a:ext>
            </a:extLst>
          </p:cNvPr>
          <p:cNvSpPr>
            <a:spLocks noGrp="1"/>
          </p:cNvSpPr>
          <p:nvPr>
            <p:ph type="title"/>
          </p:nvPr>
        </p:nvSpPr>
        <p:spPr/>
        <p:txBody>
          <a:bodyPr/>
          <a:lstStyle/>
          <a:p>
            <a:r>
              <a:rPr lang="en-IN" dirty="0"/>
              <a:t>Monthly Sales Trend</a:t>
            </a:r>
          </a:p>
        </p:txBody>
      </p:sp>
      <p:pic>
        <p:nvPicPr>
          <p:cNvPr id="4" name="Picture 3">
            <a:extLst>
              <a:ext uri="{FF2B5EF4-FFF2-40B4-BE49-F238E27FC236}">
                <a16:creationId xmlns:a16="http://schemas.microsoft.com/office/drawing/2014/main" id="{89B360EE-194C-C595-DBB4-1D89666D96C2}"/>
              </a:ext>
            </a:extLst>
          </p:cNvPr>
          <p:cNvPicPr>
            <a:picLocks noChangeAspect="1"/>
          </p:cNvPicPr>
          <p:nvPr/>
        </p:nvPicPr>
        <p:blipFill>
          <a:blip r:embed="rId2"/>
          <a:stretch>
            <a:fillRect/>
          </a:stretch>
        </p:blipFill>
        <p:spPr>
          <a:xfrm>
            <a:off x="3010449" y="2522712"/>
            <a:ext cx="6905918" cy="4335288"/>
          </a:xfrm>
          <a:prstGeom prst="rect">
            <a:avLst/>
          </a:prstGeom>
        </p:spPr>
      </p:pic>
    </p:spTree>
    <p:extLst>
      <p:ext uri="{BB962C8B-B14F-4D97-AF65-F5344CB8AC3E}">
        <p14:creationId xmlns:p14="http://schemas.microsoft.com/office/powerpoint/2010/main" val="3940990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62DD-1AEE-F171-1776-4DBA7E958D4A}"/>
              </a:ext>
            </a:extLst>
          </p:cNvPr>
          <p:cNvSpPr>
            <a:spLocks noGrp="1"/>
          </p:cNvSpPr>
          <p:nvPr>
            <p:ph type="title"/>
          </p:nvPr>
        </p:nvSpPr>
        <p:spPr/>
        <p:txBody>
          <a:bodyPr/>
          <a:lstStyle/>
          <a:p>
            <a:r>
              <a:rPr lang="en-IN" dirty="0"/>
              <a:t>Year Wise - Monthly Sales Trend</a:t>
            </a:r>
          </a:p>
        </p:txBody>
      </p:sp>
      <p:pic>
        <p:nvPicPr>
          <p:cNvPr id="4" name="Picture 3">
            <a:extLst>
              <a:ext uri="{FF2B5EF4-FFF2-40B4-BE49-F238E27FC236}">
                <a16:creationId xmlns:a16="http://schemas.microsoft.com/office/drawing/2014/main" id="{9D9F3C93-D3D4-58A1-67CF-38ED07BF4D4F}"/>
              </a:ext>
            </a:extLst>
          </p:cNvPr>
          <p:cNvPicPr>
            <a:picLocks noChangeAspect="1"/>
          </p:cNvPicPr>
          <p:nvPr/>
        </p:nvPicPr>
        <p:blipFill>
          <a:blip r:embed="rId2"/>
          <a:stretch>
            <a:fillRect/>
          </a:stretch>
        </p:blipFill>
        <p:spPr>
          <a:xfrm>
            <a:off x="2461847" y="2503764"/>
            <a:ext cx="7766978" cy="4255762"/>
          </a:xfrm>
          <a:prstGeom prst="rect">
            <a:avLst/>
          </a:prstGeom>
        </p:spPr>
      </p:pic>
    </p:spTree>
    <p:extLst>
      <p:ext uri="{BB962C8B-B14F-4D97-AF65-F5344CB8AC3E}">
        <p14:creationId xmlns:p14="http://schemas.microsoft.com/office/powerpoint/2010/main" val="2668919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E2EB-7E27-91C0-43F3-36D0F44D0212}"/>
              </a:ext>
            </a:extLst>
          </p:cNvPr>
          <p:cNvSpPr>
            <a:spLocks noGrp="1"/>
          </p:cNvSpPr>
          <p:nvPr>
            <p:ph type="title"/>
          </p:nvPr>
        </p:nvSpPr>
        <p:spPr/>
        <p:txBody>
          <a:bodyPr/>
          <a:lstStyle/>
          <a:p>
            <a:r>
              <a:rPr lang="en-IN" dirty="0"/>
              <a:t>Weekly Sales Trend</a:t>
            </a:r>
          </a:p>
        </p:txBody>
      </p:sp>
      <p:pic>
        <p:nvPicPr>
          <p:cNvPr id="4" name="Picture 3">
            <a:extLst>
              <a:ext uri="{FF2B5EF4-FFF2-40B4-BE49-F238E27FC236}">
                <a16:creationId xmlns:a16="http://schemas.microsoft.com/office/drawing/2014/main" id="{5DFB1918-CC1C-4AAE-4C09-B5702FD48142}"/>
              </a:ext>
            </a:extLst>
          </p:cNvPr>
          <p:cNvPicPr>
            <a:picLocks noChangeAspect="1"/>
          </p:cNvPicPr>
          <p:nvPr/>
        </p:nvPicPr>
        <p:blipFill>
          <a:blip r:embed="rId2"/>
          <a:stretch>
            <a:fillRect/>
          </a:stretch>
        </p:blipFill>
        <p:spPr>
          <a:xfrm>
            <a:off x="2197124" y="2459577"/>
            <a:ext cx="7797751" cy="4176783"/>
          </a:xfrm>
          <a:prstGeom prst="rect">
            <a:avLst/>
          </a:prstGeom>
        </p:spPr>
      </p:pic>
    </p:spTree>
    <p:extLst>
      <p:ext uri="{BB962C8B-B14F-4D97-AF65-F5344CB8AC3E}">
        <p14:creationId xmlns:p14="http://schemas.microsoft.com/office/powerpoint/2010/main" val="139102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56FBE-D9A3-011B-D8EE-D8B5E796EB67}"/>
              </a:ext>
            </a:extLst>
          </p:cNvPr>
          <p:cNvSpPr>
            <a:spLocks noGrp="1"/>
          </p:cNvSpPr>
          <p:nvPr>
            <p:ph type="title"/>
          </p:nvPr>
        </p:nvSpPr>
        <p:spPr/>
        <p:txBody>
          <a:bodyPr/>
          <a:lstStyle/>
          <a:p>
            <a:r>
              <a:rPr lang="en-IN" dirty="0"/>
              <a:t>Inferences From Sales Trends</a:t>
            </a:r>
          </a:p>
        </p:txBody>
      </p:sp>
      <p:sp>
        <p:nvSpPr>
          <p:cNvPr id="3" name="Content Placeholder 2">
            <a:extLst>
              <a:ext uri="{FF2B5EF4-FFF2-40B4-BE49-F238E27FC236}">
                <a16:creationId xmlns:a16="http://schemas.microsoft.com/office/drawing/2014/main" id="{2211B88F-AFC3-FFC8-9C1B-30B46DAC8A91}"/>
              </a:ext>
            </a:extLst>
          </p:cNvPr>
          <p:cNvSpPr>
            <a:spLocks noGrp="1"/>
          </p:cNvSpPr>
          <p:nvPr>
            <p:ph idx="1"/>
          </p:nvPr>
        </p:nvSpPr>
        <p:spPr>
          <a:xfrm>
            <a:off x="1154954" y="2603500"/>
            <a:ext cx="10563434" cy="3881706"/>
          </a:xfrm>
        </p:spPr>
        <p:txBody>
          <a:bodyPr>
            <a:normAutofit fontScale="85000" lnSpcReduction="10000"/>
          </a:bodyPr>
          <a:lstStyle/>
          <a:p>
            <a:pPr>
              <a:lnSpc>
                <a:spcPct val="150000"/>
              </a:lnSpc>
            </a:pPr>
            <a:r>
              <a:rPr lang="en-IN" sz="2400" dirty="0">
                <a:latin typeface="Times New Roman" panose="02020603050405020304" pitchFamily="18" charset="0"/>
                <a:cs typeface="Times New Roman" panose="02020603050405020304" pitchFamily="18" charset="0"/>
              </a:rPr>
              <a:t>The given dataset consists of transactions from Jan – 2018 to May – 2020.</a:t>
            </a:r>
          </a:p>
          <a:p>
            <a:pPr>
              <a:lnSpc>
                <a:spcPct val="150000"/>
              </a:lnSpc>
            </a:pPr>
            <a:r>
              <a:rPr lang="en-IN" sz="2400" dirty="0">
                <a:latin typeface="Times New Roman" panose="02020603050405020304" pitchFamily="18" charset="0"/>
                <a:cs typeface="Times New Roman" panose="02020603050405020304" pitchFamily="18" charset="0"/>
              </a:rPr>
              <a:t>Sales were high in the year 2019 compared to 2018.(for 2020 we do not have complete data)</a:t>
            </a:r>
          </a:p>
          <a:p>
            <a:pPr>
              <a:lnSpc>
                <a:spcPct val="150000"/>
              </a:lnSpc>
            </a:pPr>
            <a:r>
              <a:rPr lang="en-IN" sz="2400" dirty="0">
                <a:latin typeface="Times New Roman" panose="02020603050405020304" pitchFamily="18" charset="0"/>
                <a:cs typeface="Times New Roman" panose="02020603050405020304" pitchFamily="18" charset="0"/>
              </a:rPr>
              <a:t>We observe more sales happening in the 4</a:t>
            </a:r>
            <a:r>
              <a:rPr lang="en-IN" sz="2400" baseline="30000" dirty="0">
                <a:latin typeface="Times New Roman" panose="02020603050405020304" pitchFamily="18" charset="0"/>
                <a:cs typeface="Times New Roman" panose="02020603050405020304" pitchFamily="18" charset="0"/>
              </a:rPr>
              <a:t>th</a:t>
            </a:r>
            <a:r>
              <a:rPr lang="en-IN" sz="2400" dirty="0">
                <a:latin typeface="Times New Roman" panose="02020603050405020304" pitchFamily="18" charset="0"/>
                <a:cs typeface="Times New Roman" panose="02020603050405020304" pitchFamily="18" charset="0"/>
              </a:rPr>
              <a:t> Quarter compared to other 3 quarters.</a:t>
            </a:r>
          </a:p>
          <a:p>
            <a:pPr>
              <a:lnSpc>
                <a:spcPct val="150000"/>
              </a:lnSpc>
            </a:pPr>
            <a:r>
              <a:rPr lang="en-IN" sz="2400" dirty="0">
                <a:latin typeface="Times New Roman" panose="02020603050405020304" pitchFamily="18" charset="0"/>
                <a:cs typeface="Times New Roman" panose="02020603050405020304" pitchFamily="18" charset="0"/>
              </a:rPr>
              <a:t>We observe more sales happening in Sept to Nov month compared to other months.</a:t>
            </a:r>
          </a:p>
          <a:p>
            <a:pPr>
              <a:lnSpc>
                <a:spcPct val="150000"/>
              </a:lnSpc>
            </a:pPr>
            <a:r>
              <a:rPr lang="en-IN" sz="2400" dirty="0">
                <a:latin typeface="Times New Roman" panose="02020603050405020304" pitchFamily="18" charset="0"/>
                <a:cs typeface="Times New Roman" panose="02020603050405020304" pitchFamily="18" charset="0"/>
              </a:rPr>
              <a:t>We observe a seasonality trend where more sales are happening in Sep – Nov month every year.</a:t>
            </a:r>
          </a:p>
          <a:p>
            <a:pPr>
              <a:lnSpc>
                <a:spcPct val="150000"/>
              </a:lnSpc>
            </a:pPr>
            <a:r>
              <a:rPr lang="en-IN" sz="2400" dirty="0">
                <a:latin typeface="Times New Roman" panose="02020603050405020304" pitchFamily="18" charset="0"/>
                <a:cs typeface="Times New Roman" panose="02020603050405020304" pitchFamily="18" charset="0"/>
              </a:rPr>
              <a:t>We observe a seasonality trend where more sales are happening 4</a:t>
            </a:r>
            <a:r>
              <a:rPr lang="en-IN" sz="2400" baseline="30000" dirty="0">
                <a:latin typeface="Times New Roman" panose="02020603050405020304" pitchFamily="18" charset="0"/>
                <a:cs typeface="Times New Roman" panose="02020603050405020304" pitchFamily="18" charset="0"/>
              </a:rPr>
              <a:t>th</a:t>
            </a:r>
            <a:r>
              <a:rPr lang="en-IN" sz="2400" dirty="0">
                <a:latin typeface="Times New Roman" panose="02020603050405020304" pitchFamily="18" charset="0"/>
                <a:cs typeface="Times New Roman" panose="02020603050405020304" pitchFamily="18" charset="0"/>
              </a:rPr>
              <a:t> Quarter every year.</a:t>
            </a:r>
          </a:p>
          <a:p>
            <a:pPr>
              <a:lnSpc>
                <a:spcPct val="150000"/>
              </a:lnSpc>
            </a:pPr>
            <a:r>
              <a:rPr lang="en-IN" sz="2400" dirty="0">
                <a:latin typeface="Times New Roman" panose="02020603050405020304" pitchFamily="18" charset="0"/>
                <a:cs typeface="Times New Roman" panose="02020603050405020304" pitchFamily="18" charset="0"/>
              </a:rPr>
              <a:t>We observe uptrend in sales from week – 41 to week – 45.</a:t>
            </a:r>
          </a:p>
          <a:p>
            <a:endParaRPr lang="en-IN" dirty="0"/>
          </a:p>
        </p:txBody>
      </p:sp>
    </p:spTree>
    <p:extLst>
      <p:ext uri="{BB962C8B-B14F-4D97-AF65-F5344CB8AC3E}">
        <p14:creationId xmlns:p14="http://schemas.microsoft.com/office/powerpoint/2010/main" val="1670402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6FC8A-4EA9-F102-86B9-F389F210D87A}"/>
              </a:ext>
            </a:extLst>
          </p:cNvPr>
          <p:cNvSpPr>
            <a:spLocks noGrp="1"/>
          </p:cNvSpPr>
          <p:nvPr>
            <p:ph type="title"/>
          </p:nvPr>
        </p:nvSpPr>
        <p:spPr/>
        <p:txBody>
          <a:bodyPr/>
          <a:lstStyle/>
          <a:p>
            <a:r>
              <a:rPr lang="en-IN" dirty="0"/>
              <a:t>Sales Across Different Product lines</a:t>
            </a:r>
          </a:p>
        </p:txBody>
      </p:sp>
      <p:pic>
        <p:nvPicPr>
          <p:cNvPr id="4" name="Picture 3">
            <a:extLst>
              <a:ext uri="{FF2B5EF4-FFF2-40B4-BE49-F238E27FC236}">
                <a16:creationId xmlns:a16="http://schemas.microsoft.com/office/drawing/2014/main" id="{BE7CFF34-4E95-15D4-181C-810AFFFA08F3}"/>
              </a:ext>
            </a:extLst>
          </p:cNvPr>
          <p:cNvPicPr>
            <a:picLocks noChangeAspect="1"/>
          </p:cNvPicPr>
          <p:nvPr/>
        </p:nvPicPr>
        <p:blipFill>
          <a:blip r:embed="rId2"/>
          <a:stretch>
            <a:fillRect/>
          </a:stretch>
        </p:blipFill>
        <p:spPr>
          <a:xfrm>
            <a:off x="1585912" y="2264752"/>
            <a:ext cx="9020175" cy="4438650"/>
          </a:xfrm>
          <a:prstGeom prst="rect">
            <a:avLst/>
          </a:prstGeom>
        </p:spPr>
      </p:pic>
    </p:spTree>
    <p:extLst>
      <p:ext uri="{BB962C8B-B14F-4D97-AF65-F5344CB8AC3E}">
        <p14:creationId xmlns:p14="http://schemas.microsoft.com/office/powerpoint/2010/main" val="1820123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E66DC-A65D-9D13-E2A0-2ABEE01B0A27}"/>
              </a:ext>
            </a:extLst>
          </p:cNvPr>
          <p:cNvSpPr>
            <a:spLocks noGrp="1"/>
          </p:cNvSpPr>
          <p:nvPr>
            <p:ph type="title"/>
          </p:nvPr>
        </p:nvSpPr>
        <p:spPr/>
        <p:txBody>
          <a:bodyPr/>
          <a:lstStyle/>
          <a:p>
            <a:r>
              <a:rPr lang="en-IN" dirty="0"/>
              <a:t>Inference</a:t>
            </a:r>
          </a:p>
        </p:txBody>
      </p:sp>
      <p:sp>
        <p:nvSpPr>
          <p:cNvPr id="3" name="Content Placeholder 2">
            <a:extLst>
              <a:ext uri="{FF2B5EF4-FFF2-40B4-BE49-F238E27FC236}">
                <a16:creationId xmlns:a16="http://schemas.microsoft.com/office/drawing/2014/main" id="{FB1F3DFB-4BC3-7697-3027-CF86503F4398}"/>
              </a:ext>
            </a:extLst>
          </p:cNvPr>
          <p:cNvSpPr>
            <a:spLocks noGrp="1"/>
          </p:cNvSpPr>
          <p:nvPr>
            <p:ph idx="1"/>
          </p:nvPr>
        </p:nvSpPr>
        <p:spPr/>
        <p:txBody>
          <a:bodyPr/>
          <a:lstStyle/>
          <a:p>
            <a:pPr>
              <a:lnSpc>
                <a:spcPct val="150000"/>
              </a:lnSpc>
            </a:pPr>
            <a:r>
              <a:rPr lang="en-IN" sz="2000" dirty="0">
                <a:latin typeface="Times New Roman" panose="02020603050405020304" pitchFamily="18" charset="0"/>
                <a:cs typeface="Times New Roman" panose="02020603050405020304" pitchFamily="18" charset="0"/>
              </a:rPr>
              <a:t>Highest sales are from the Classic Cars product line.</a:t>
            </a:r>
          </a:p>
          <a:p>
            <a:pPr>
              <a:lnSpc>
                <a:spcPct val="150000"/>
              </a:lnSpc>
            </a:pPr>
            <a:r>
              <a:rPr lang="en-IN" sz="2000" dirty="0">
                <a:latin typeface="Times New Roman" panose="02020603050405020304" pitchFamily="18" charset="0"/>
                <a:cs typeface="Times New Roman" panose="02020603050405020304" pitchFamily="18" charset="0"/>
              </a:rPr>
              <a:t>Vintage Cars product line stands second with highest sales.</a:t>
            </a:r>
          </a:p>
          <a:p>
            <a:pPr>
              <a:lnSpc>
                <a:spcPct val="150000"/>
              </a:lnSpc>
            </a:pPr>
            <a:r>
              <a:rPr lang="en-IN" sz="2000" dirty="0">
                <a:latin typeface="Times New Roman" panose="02020603050405020304" pitchFamily="18" charset="0"/>
                <a:cs typeface="Times New Roman" panose="02020603050405020304" pitchFamily="18" charset="0"/>
              </a:rPr>
              <a:t>Least sales were from the Trains product line.</a:t>
            </a:r>
          </a:p>
        </p:txBody>
      </p:sp>
    </p:spTree>
    <p:extLst>
      <p:ext uri="{BB962C8B-B14F-4D97-AF65-F5344CB8AC3E}">
        <p14:creationId xmlns:p14="http://schemas.microsoft.com/office/powerpoint/2010/main" val="976701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E7D42-4037-560A-C1E8-CD3899A03F2A}"/>
              </a:ext>
            </a:extLst>
          </p:cNvPr>
          <p:cNvSpPr>
            <a:spLocks noGrp="1"/>
          </p:cNvSpPr>
          <p:nvPr>
            <p:ph type="title"/>
          </p:nvPr>
        </p:nvSpPr>
        <p:spPr/>
        <p:txBody>
          <a:bodyPr/>
          <a:lstStyle/>
          <a:p>
            <a:r>
              <a:rPr lang="en-IN" dirty="0"/>
              <a:t>RFM - Analysis</a:t>
            </a:r>
          </a:p>
        </p:txBody>
      </p:sp>
      <p:sp>
        <p:nvSpPr>
          <p:cNvPr id="3" name="Content Placeholder 2">
            <a:extLst>
              <a:ext uri="{FF2B5EF4-FFF2-40B4-BE49-F238E27FC236}">
                <a16:creationId xmlns:a16="http://schemas.microsoft.com/office/drawing/2014/main" id="{D53E0453-EE8F-2409-A5BF-6AF4CD7826A2}"/>
              </a:ext>
            </a:extLst>
          </p:cNvPr>
          <p:cNvSpPr>
            <a:spLocks noGrp="1"/>
          </p:cNvSpPr>
          <p:nvPr>
            <p:ph idx="1"/>
          </p:nvPr>
        </p:nvSpPr>
        <p:spPr>
          <a:xfrm>
            <a:off x="1154954" y="3263704"/>
            <a:ext cx="10113268" cy="275609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RFM analysis is a marketing technique used to quantitatively rank and group customers based on the recency, frequency and monetary total of their recent transactions to identify the best customers and perform targeted marketing campaigns.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041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EA7DE-D76F-70BB-1F3D-5A01B14BABA5}"/>
              </a:ext>
            </a:extLst>
          </p:cNvPr>
          <p:cNvSpPr>
            <a:spLocks noGrp="1"/>
          </p:cNvSpPr>
          <p:nvPr>
            <p:ph type="title"/>
          </p:nvPr>
        </p:nvSpPr>
        <p:spPr>
          <a:xfrm>
            <a:off x="1154954" y="973668"/>
            <a:ext cx="9381748" cy="706964"/>
          </a:xfrm>
        </p:spPr>
        <p:txBody>
          <a:bodyPr/>
          <a:lstStyle/>
          <a:p>
            <a:r>
              <a:rPr lang="en-IN" dirty="0"/>
              <a:t>RFM – Assumptions and Parameters Used</a:t>
            </a:r>
          </a:p>
        </p:txBody>
      </p:sp>
      <p:sp>
        <p:nvSpPr>
          <p:cNvPr id="3" name="Content Placeholder 2">
            <a:extLst>
              <a:ext uri="{FF2B5EF4-FFF2-40B4-BE49-F238E27FC236}">
                <a16:creationId xmlns:a16="http://schemas.microsoft.com/office/drawing/2014/main" id="{B59C2BED-B4D2-BA91-79AB-7A85223113AB}"/>
              </a:ext>
            </a:extLst>
          </p:cNvPr>
          <p:cNvSpPr>
            <a:spLocks noGrp="1"/>
          </p:cNvSpPr>
          <p:nvPr>
            <p:ph idx="1"/>
          </p:nvPr>
        </p:nvSpPr>
        <p:spPr>
          <a:xfrm>
            <a:off x="1154954" y="2603500"/>
            <a:ext cx="10380554" cy="3783232"/>
          </a:xfrm>
        </p:spPr>
        <p:txBody>
          <a:bodyPr/>
          <a:lstStyle/>
          <a:p>
            <a:pPr>
              <a:lnSpc>
                <a:spcPct val="150000"/>
              </a:lnSpc>
            </a:pPr>
            <a:r>
              <a:rPr lang="en-IN" sz="2000" dirty="0">
                <a:latin typeface="Times New Roman" panose="02020603050405020304" pitchFamily="18" charset="0"/>
                <a:cs typeface="Times New Roman" panose="02020603050405020304" pitchFamily="18" charset="0"/>
              </a:rPr>
              <a:t>We have grouped all the transactions for each customer.</a:t>
            </a:r>
          </a:p>
          <a:p>
            <a:pPr>
              <a:lnSpc>
                <a:spcPct val="150000"/>
              </a:lnSpc>
            </a:pPr>
            <a:r>
              <a:rPr lang="en-IN" sz="2000" dirty="0">
                <a:latin typeface="Times New Roman" panose="02020603050405020304" pitchFamily="18" charset="0"/>
                <a:cs typeface="Times New Roman" panose="02020603050405020304" pitchFamily="18" charset="0"/>
              </a:rPr>
              <a:t>We have used ‘DAYS_SINCE_LASTORDER’ column from given dataset to measure Recency parameter .</a:t>
            </a:r>
          </a:p>
          <a:p>
            <a:pPr>
              <a:lnSpc>
                <a:spcPct val="150000"/>
              </a:lnSpc>
            </a:pPr>
            <a:r>
              <a:rPr lang="en-IN" sz="2000" dirty="0">
                <a:latin typeface="Times New Roman" panose="02020603050405020304" pitchFamily="18" charset="0"/>
                <a:cs typeface="Times New Roman" panose="02020603050405020304" pitchFamily="18" charset="0"/>
              </a:rPr>
              <a:t>We have used ‘SALES’ column from given dataset to measure Monetary parameter .</a:t>
            </a:r>
          </a:p>
          <a:p>
            <a:pPr>
              <a:lnSpc>
                <a:spcPct val="150000"/>
              </a:lnSpc>
            </a:pPr>
            <a:r>
              <a:rPr lang="en-IN" sz="2000" dirty="0">
                <a:latin typeface="Times New Roman" panose="02020603050405020304" pitchFamily="18" charset="0"/>
                <a:cs typeface="Times New Roman" panose="02020603050405020304" pitchFamily="18" charset="0"/>
              </a:rPr>
              <a:t>We have used count of transactions for each customer as a measure to Frequency parameter.</a:t>
            </a:r>
          </a:p>
          <a:p>
            <a:pPr>
              <a:lnSpc>
                <a:spcPct val="150000"/>
              </a:lnSpc>
            </a:pPr>
            <a:r>
              <a:rPr lang="en-IN" sz="2000" dirty="0">
                <a:latin typeface="Times New Roman" panose="02020603050405020304" pitchFamily="18" charset="0"/>
                <a:cs typeface="Times New Roman" panose="02020603050405020304" pitchFamily="18" charset="0"/>
              </a:rPr>
              <a:t>We have 4 segments present with 4 being given highest and 1 being given lowest weightage.</a:t>
            </a:r>
          </a:p>
          <a:p>
            <a:endParaRPr lang="en-IN" dirty="0"/>
          </a:p>
        </p:txBody>
      </p:sp>
    </p:spTree>
    <p:extLst>
      <p:ext uri="{BB962C8B-B14F-4D97-AF65-F5344CB8AC3E}">
        <p14:creationId xmlns:p14="http://schemas.microsoft.com/office/powerpoint/2010/main" val="1893570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85ADC-5DEA-B558-E4A5-E65B2716BCFD}"/>
              </a:ext>
            </a:extLst>
          </p:cNvPr>
          <p:cNvSpPr>
            <a:spLocks noGrp="1"/>
          </p:cNvSpPr>
          <p:nvPr>
            <p:ph type="title"/>
          </p:nvPr>
        </p:nvSpPr>
        <p:spPr>
          <a:xfrm>
            <a:off x="1154954" y="973668"/>
            <a:ext cx="10296148" cy="706964"/>
          </a:xfrm>
        </p:spPr>
        <p:txBody>
          <a:bodyPr/>
          <a:lstStyle/>
          <a:p>
            <a:r>
              <a:rPr lang="en-IN" dirty="0"/>
              <a:t>KNIME Work-Flow Used to compute Segmentation based on RFM</a:t>
            </a:r>
          </a:p>
        </p:txBody>
      </p:sp>
      <p:pic>
        <p:nvPicPr>
          <p:cNvPr id="5" name="Picture 4">
            <a:extLst>
              <a:ext uri="{FF2B5EF4-FFF2-40B4-BE49-F238E27FC236}">
                <a16:creationId xmlns:a16="http://schemas.microsoft.com/office/drawing/2014/main" id="{0CA18F38-3ADC-4519-017D-81C53C517E7B}"/>
              </a:ext>
            </a:extLst>
          </p:cNvPr>
          <p:cNvPicPr>
            <a:picLocks noChangeAspect="1"/>
          </p:cNvPicPr>
          <p:nvPr/>
        </p:nvPicPr>
        <p:blipFill>
          <a:blip r:embed="rId2"/>
          <a:stretch>
            <a:fillRect/>
          </a:stretch>
        </p:blipFill>
        <p:spPr>
          <a:xfrm>
            <a:off x="1587304" y="2744958"/>
            <a:ext cx="9017391" cy="3657815"/>
          </a:xfrm>
          <a:prstGeom prst="rect">
            <a:avLst/>
          </a:prstGeom>
        </p:spPr>
      </p:pic>
    </p:spTree>
    <p:extLst>
      <p:ext uri="{BB962C8B-B14F-4D97-AF65-F5344CB8AC3E}">
        <p14:creationId xmlns:p14="http://schemas.microsoft.com/office/powerpoint/2010/main" val="4106516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7CE2-B444-861C-34B5-F24973813D73}"/>
              </a:ext>
            </a:extLst>
          </p:cNvPr>
          <p:cNvSpPr>
            <a:spLocks noGrp="1"/>
          </p:cNvSpPr>
          <p:nvPr>
            <p:ph type="title"/>
          </p:nvPr>
        </p:nvSpPr>
        <p:spPr/>
        <p:txBody>
          <a:bodyPr/>
          <a:lstStyle/>
          <a:p>
            <a:r>
              <a:rPr lang="en-IN" dirty="0"/>
              <a:t>RFM Metrics</a:t>
            </a:r>
          </a:p>
        </p:txBody>
      </p:sp>
      <p:pic>
        <p:nvPicPr>
          <p:cNvPr id="7" name="Picture 6">
            <a:extLst>
              <a:ext uri="{FF2B5EF4-FFF2-40B4-BE49-F238E27FC236}">
                <a16:creationId xmlns:a16="http://schemas.microsoft.com/office/drawing/2014/main" id="{45E15692-C659-0706-C412-2B5479FEAF92}"/>
              </a:ext>
            </a:extLst>
          </p:cNvPr>
          <p:cNvPicPr>
            <a:picLocks noChangeAspect="1"/>
          </p:cNvPicPr>
          <p:nvPr/>
        </p:nvPicPr>
        <p:blipFill>
          <a:blip r:embed="rId2"/>
          <a:stretch>
            <a:fillRect/>
          </a:stretch>
        </p:blipFill>
        <p:spPr>
          <a:xfrm>
            <a:off x="3636583" y="2362230"/>
            <a:ext cx="4918833" cy="4312890"/>
          </a:xfrm>
          <a:prstGeom prst="rect">
            <a:avLst/>
          </a:prstGeom>
        </p:spPr>
      </p:pic>
    </p:spTree>
    <p:extLst>
      <p:ext uri="{BB962C8B-B14F-4D97-AF65-F5344CB8AC3E}">
        <p14:creationId xmlns:p14="http://schemas.microsoft.com/office/powerpoint/2010/main" val="285876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58CE0-DD9F-8345-A9FB-602F63DC8EE8}"/>
              </a:ext>
            </a:extLst>
          </p:cNvPr>
          <p:cNvSpPr>
            <a:spLocks noGrp="1"/>
          </p:cNvSpPr>
          <p:nvPr>
            <p:ph type="title"/>
          </p:nvPr>
        </p:nvSpPr>
        <p:spPr/>
        <p:txBody>
          <a:bodyPr/>
          <a:lstStyle/>
          <a:p>
            <a:r>
              <a:rPr lang="en-IN" dirty="0"/>
              <a:t>Best Customers</a:t>
            </a:r>
          </a:p>
        </p:txBody>
      </p:sp>
      <p:sp>
        <p:nvSpPr>
          <p:cNvPr id="3" name="Content Placeholder 2">
            <a:extLst>
              <a:ext uri="{FF2B5EF4-FFF2-40B4-BE49-F238E27FC236}">
                <a16:creationId xmlns:a16="http://schemas.microsoft.com/office/drawing/2014/main" id="{4737465F-91FF-CE75-3697-B57507570FEF}"/>
              </a:ext>
            </a:extLst>
          </p:cNvPr>
          <p:cNvSpPr>
            <a:spLocks noGrp="1"/>
          </p:cNvSpPr>
          <p:nvPr>
            <p:ph idx="1"/>
          </p:nvPr>
        </p:nvSpPr>
        <p:spPr>
          <a:xfrm>
            <a:off x="1154954" y="2603499"/>
            <a:ext cx="10056997" cy="3937977"/>
          </a:xfrm>
        </p:spPr>
        <p:txBody>
          <a:bodyPr>
            <a:normAutofit fontScale="85000" lnSpcReduction="20000"/>
          </a:bodyPr>
          <a:lstStyle/>
          <a:p>
            <a:r>
              <a:rPr lang="en-IN" sz="2200" dirty="0">
                <a:latin typeface="Times New Roman" panose="02020603050405020304" pitchFamily="18" charset="0"/>
                <a:cs typeface="Times New Roman" panose="02020603050405020304" pitchFamily="18" charset="0"/>
              </a:rPr>
              <a:t>Anna's Decorations, Ltd</a:t>
            </a:r>
          </a:p>
          <a:p>
            <a:r>
              <a:rPr lang="en-IN" sz="2200" dirty="0">
                <a:latin typeface="Times New Roman" panose="02020603050405020304" pitchFamily="18" charset="0"/>
                <a:cs typeface="Times New Roman" panose="02020603050405020304" pitchFamily="18" charset="0"/>
              </a:rPr>
              <a:t>Australian Collectors, Co.</a:t>
            </a:r>
          </a:p>
          <a:p>
            <a:r>
              <a:rPr lang="en-IN" sz="2200" dirty="0">
                <a:latin typeface="Times New Roman" panose="02020603050405020304" pitchFamily="18" charset="0"/>
                <a:cs typeface="Times New Roman" panose="02020603050405020304" pitchFamily="18" charset="0"/>
              </a:rPr>
              <a:t>Euro Shopping Channel</a:t>
            </a:r>
          </a:p>
          <a:p>
            <a:r>
              <a:rPr lang="en-IN" sz="2200" dirty="0">
                <a:latin typeface="Times New Roman" panose="02020603050405020304" pitchFamily="18" charset="0"/>
                <a:cs typeface="Times New Roman" panose="02020603050405020304" pitchFamily="18" charset="0"/>
              </a:rPr>
              <a:t>La Rochelle Gifts</a:t>
            </a:r>
          </a:p>
          <a:p>
            <a:r>
              <a:rPr lang="en-IN" sz="2200" dirty="0">
                <a:latin typeface="Times New Roman" panose="02020603050405020304" pitchFamily="18" charset="0"/>
                <a:cs typeface="Times New Roman" panose="02020603050405020304" pitchFamily="18" charset="0"/>
              </a:rPr>
              <a:t>Land of Toys Inc.</a:t>
            </a:r>
          </a:p>
          <a:p>
            <a:r>
              <a:rPr lang="en-IN" sz="2200" dirty="0">
                <a:latin typeface="Times New Roman" panose="02020603050405020304" pitchFamily="18" charset="0"/>
                <a:cs typeface="Times New Roman" panose="02020603050405020304" pitchFamily="18" charset="0"/>
              </a:rPr>
              <a:t>Mini Gifts Distributors Ltd.</a:t>
            </a:r>
          </a:p>
          <a:p>
            <a:r>
              <a:rPr lang="en-IN" sz="2200" dirty="0">
                <a:latin typeface="Times New Roman" panose="02020603050405020304" pitchFamily="18" charset="0"/>
                <a:cs typeface="Times New Roman" panose="02020603050405020304" pitchFamily="18" charset="0"/>
              </a:rPr>
              <a:t>Online Diecast Creations Co.</a:t>
            </a:r>
          </a:p>
          <a:p>
            <a:r>
              <a:rPr lang="en-IN" sz="2200" dirty="0">
                <a:latin typeface="Times New Roman" panose="02020603050405020304" pitchFamily="18" charset="0"/>
                <a:cs typeface="Times New Roman" panose="02020603050405020304" pitchFamily="18" charset="0"/>
              </a:rPr>
              <a:t>Salzburg Collectables</a:t>
            </a:r>
          </a:p>
          <a:p>
            <a:r>
              <a:rPr lang="en-IN" sz="2200" dirty="0" err="1">
                <a:latin typeface="Times New Roman" panose="02020603050405020304" pitchFamily="18" charset="0"/>
                <a:cs typeface="Times New Roman" panose="02020603050405020304" pitchFamily="18" charset="0"/>
              </a:rPr>
              <a:t>Souveniers</a:t>
            </a:r>
            <a:r>
              <a:rPr lang="en-IN" sz="2200" dirty="0">
                <a:latin typeface="Times New Roman" panose="02020603050405020304" pitchFamily="18" charset="0"/>
                <a:cs typeface="Times New Roman" panose="02020603050405020304" pitchFamily="18" charset="0"/>
              </a:rPr>
              <a:t> And Things Co.</a:t>
            </a:r>
          </a:p>
          <a:p>
            <a:r>
              <a:rPr lang="en-IN" sz="2200" dirty="0">
                <a:latin typeface="Times New Roman" panose="02020603050405020304" pitchFamily="18" charset="0"/>
                <a:cs typeface="Times New Roman" panose="02020603050405020304" pitchFamily="18" charset="0"/>
              </a:rPr>
              <a:t>Technics Stores Inc.</a:t>
            </a:r>
          </a:p>
          <a:p>
            <a:r>
              <a:rPr lang="en-IN" sz="2200" dirty="0">
                <a:latin typeface="Times New Roman" panose="02020603050405020304" pitchFamily="18" charset="0"/>
                <a:cs typeface="Times New Roman" panose="02020603050405020304" pitchFamily="18" charset="0"/>
              </a:rPr>
              <a:t>The Sharp Gifts Warehouse</a:t>
            </a:r>
          </a:p>
          <a:p>
            <a:endParaRPr lang="en-IN" dirty="0"/>
          </a:p>
        </p:txBody>
      </p:sp>
    </p:spTree>
    <p:extLst>
      <p:ext uri="{BB962C8B-B14F-4D97-AF65-F5344CB8AC3E}">
        <p14:creationId xmlns:p14="http://schemas.microsoft.com/office/powerpoint/2010/main" val="3497125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8F63-36A9-F122-C83A-3C176C45AA68}"/>
              </a:ext>
            </a:extLst>
          </p:cNvPr>
          <p:cNvSpPr>
            <a:spLocks noGrp="1"/>
          </p:cNvSpPr>
          <p:nvPr>
            <p:ph type="title"/>
          </p:nvPr>
        </p:nvSpPr>
        <p:spPr/>
        <p:txBody>
          <a:bodyPr/>
          <a:lstStyle/>
          <a:p>
            <a:r>
              <a:rPr lang="en-IN" dirty="0"/>
              <a:t>Loyal Customers</a:t>
            </a:r>
          </a:p>
        </p:txBody>
      </p:sp>
      <p:sp>
        <p:nvSpPr>
          <p:cNvPr id="3" name="Content Placeholder 2">
            <a:extLst>
              <a:ext uri="{FF2B5EF4-FFF2-40B4-BE49-F238E27FC236}">
                <a16:creationId xmlns:a16="http://schemas.microsoft.com/office/drawing/2014/main" id="{E338244B-691F-C9F5-0807-DD11BFF9ACA9}"/>
              </a:ext>
            </a:extLst>
          </p:cNvPr>
          <p:cNvSpPr>
            <a:spLocks noGrp="1"/>
          </p:cNvSpPr>
          <p:nvPr>
            <p:ph idx="1"/>
          </p:nvPr>
        </p:nvSpPr>
        <p:spPr/>
        <p:txBody>
          <a:bodyPr/>
          <a:lstStyle/>
          <a:p>
            <a:pPr>
              <a:lnSpc>
                <a:spcPct val="150000"/>
              </a:lnSpc>
            </a:pPr>
            <a:r>
              <a:rPr lang="en-IN" sz="2000" dirty="0">
                <a:latin typeface="Times New Roman" panose="02020603050405020304" pitchFamily="18" charset="0"/>
                <a:cs typeface="Times New Roman" panose="02020603050405020304" pitchFamily="18" charset="0"/>
              </a:rPr>
              <a:t>Auto Canal Petit</a:t>
            </a:r>
          </a:p>
          <a:p>
            <a:pPr>
              <a:lnSpc>
                <a:spcPct val="150000"/>
              </a:lnSpc>
            </a:pPr>
            <a:r>
              <a:rPr lang="en-IN" sz="2000" dirty="0" err="1">
                <a:latin typeface="Times New Roman" panose="02020603050405020304" pitchFamily="18" charset="0"/>
                <a:cs typeface="Times New Roman" panose="02020603050405020304" pitchFamily="18" charset="0"/>
              </a:rPr>
              <a:t>Baane</a:t>
            </a:r>
            <a:r>
              <a:rPr lang="en-IN" sz="2000" dirty="0">
                <a:latin typeface="Times New Roman" panose="02020603050405020304" pitchFamily="18" charset="0"/>
                <a:cs typeface="Times New Roman" panose="02020603050405020304" pitchFamily="18" charset="0"/>
              </a:rPr>
              <a:t> Mini Imports</a:t>
            </a:r>
          </a:p>
          <a:p>
            <a:pPr>
              <a:lnSpc>
                <a:spcPct val="150000"/>
              </a:lnSpc>
            </a:pPr>
            <a:r>
              <a:rPr lang="en-IN" sz="2000" dirty="0">
                <a:latin typeface="Times New Roman" panose="02020603050405020304" pitchFamily="18" charset="0"/>
                <a:cs typeface="Times New Roman" panose="02020603050405020304" pitchFamily="18" charset="0"/>
              </a:rPr>
              <a:t>Diecast Classics Inc.</a:t>
            </a:r>
          </a:p>
          <a:p>
            <a:pPr>
              <a:lnSpc>
                <a:spcPct val="150000"/>
              </a:lnSpc>
            </a:pPr>
            <a:r>
              <a:rPr lang="en-IN" sz="2000" dirty="0">
                <a:latin typeface="Times New Roman" panose="02020603050405020304" pitchFamily="18" charset="0"/>
                <a:cs typeface="Times New Roman" panose="02020603050405020304" pitchFamily="18" charset="0"/>
              </a:rPr>
              <a:t>Oulu Toy Supplies, Inc.</a:t>
            </a:r>
          </a:p>
          <a:p>
            <a:pPr>
              <a:lnSpc>
                <a:spcPct val="150000"/>
              </a:lnSpc>
            </a:pPr>
            <a:r>
              <a:rPr lang="en-IN" sz="2000" dirty="0">
                <a:latin typeface="Times New Roman" panose="02020603050405020304" pitchFamily="18" charset="0"/>
                <a:cs typeface="Times New Roman" panose="02020603050405020304" pitchFamily="18" charset="0"/>
              </a:rPr>
              <a:t>UK Collectables, Ltd.</a:t>
            </a:r>
          </a:p>
          <a:p>
            <a:endParaRPr lang="en-IN" dirty="0"/>
          </a:p>
        </p:txBody>
      </p:sp>
    </p:spTree>
    <p:extLst>
      <p:ext uri="{BB962C8B-B14F-4D97-AF65-F5344CB8AC3E}">
        <p14:creationId xmlns:p14="http://schemas.microsoft.com/office/powerpoint/2010/main" val="2584802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858B-9FCB-D780-957A-C519BD58594F}"/>
              </a:ext>
            </a:extLst>
          </p:cNvPr>
          <p:cNvSpPr>
            <a:spLocks noGrp="1"/>
          </p:cNvSpPr>
          <p:nvPr>
            <p:ph type="title"/>
          </p:nvPr>
        </p:nvSpPr>
        <p:spPr/>
        <p:txBody>
          <a:bodyPr/>
          <a:lstStyle/>
          <a:p>
            <a:r>
              <a:rPr lang="en-IN" dirty="0"/>
              <a:t>Customers In the Verge of Churning</a:t>
            </a:r>
          </a:p>
        </p:txBody>
      </p:sp>
      <p:sp>
        <p:nvSpPr>
          <p:cNvPr id="3" name="Content Placeholder 2">
            <a:extLst>
              <a:ext uri="{FF2B5EF4-FFF2-40B4-BE49-F238E27FC236}">
                <a16:creationId xmlns:a16="http://schemas.microsoft.com/office/drawing/2014/main" id="{F42C6AC1-1176-F44E-BCA6-3790F98F7473}"/>
              </a:ext>
            </a:extLst>
          </p:cNvPr>
          <p:cNvSpPr>
            <a:spLocks noGrp="1"/>
          </p:cNvSpPr>
          <p:nvPr>
            <p:ph idx="1"/>
          </p:nvPr>
        </p:nvSpPr>
        <p:spPr>
          <a:xfrm>
            <a:off x="1154954" y="2603499"/>
            <a:ext cx="9705304" cy="3839503"/>
          </a:xfrm>
        </p:spPr>
        <p:txBody>
          <a:bodyPr>
            <a:normAutofit fontScale="92500" lnSpcReduction="10000"/>
          </a:bodyPr>
          <a:lstStyle/>
          <a:p>
            <a:pPr lvl="2">
              <a:lnSpc>
                <a:spcPct val="150000"/>
              </a:lnSpc>
            </a:pPr>
            <a:r>
              <a:rPr lang="en-IN" sz="2000" dirty="0">
                <a:latin typeface="Times New Roman" panose="02020603050405020304" pitchFamily="18" charset="0"/>
                <a:cs typeface="Times New Roman" panose="02020603050405020304" pitchFamily="18" charset="0"/>
              </a:rPr>
              <a:t>CAF Imports</a:t>
            </a:r>
          </a:p>
          <a:p>
            <a:pPr lvl="2">
              <a:lnSpc>
                <a:spcPct val="150000"/>
              </a:lnSpc>
            </a:pPr>
            <a:r>
              <a:rPr lang="en-IN" sz="2000" dirty="0">
                <a:latin typeface="Times New Roman" panose="02020603050405020304" pitchFamily="18" charset="0"/>
                <a:cs typeface="Times New Roman" panose="02020603050405020304" pitchFamily="18" charset="0"/>
              </a:rPr>
              <a:t>Cambridge Collectables Co.</a:t>
            </a:r>
          </a:p>
          <a:p>
            <a:pPr lvl="2">
              <a:lnSpc>
                <a:spcPct val="150000"/>
              </a:lnSpc>
            </a:pPr>
            <a:r>
              <a:rPr lang="en-IN" sz="2000" dirty="0">
                <a:latin typeface="Times New Roman" panose="02020603050405020304" pitchFamily="18" charset="0"/>
                <a:cs typeface="Times New Roman" panose="02020603050405020304" pitchFamily="18" charset="0"/>
              </a:rPr>
              <a:t>Collectable Mini Designs Co.</a:t>
            </a:r>
          </a:p>
          <a:p>
            <a:pPr lvl="2">
              <a:lnSpc>
                <a:spcPct val="150000"/>
              </a:lnSpc>
            </a:pPr>
            <a:r>
              <a:rPr lang="en-IN" sz="2000" dirty="0">
                <a:latin typeface="Times New Roman" panose="02020603050405020304" pitchFamily="18" charset="0"/>
                <a:cs typeface="Times New Roman" panose="02020603050405020304" pitchFamily="18" charset="0"/>
              </a:rPr>
              <a:t>Daedalus Designs Imports</a:t>
            </a:r>
          </a:p>
          <a:p>
            <a:pPr lvl="2">
              <a:lnSpc>
                <a:spcPct val="150000"/>
              </a:lnSpc>
            </a:pPr>
            <a:r>
              <a:rPr lang="en-IN" sz="2000" dirty="0">
                <a:latin typeface="Times New Roman" panose="02020603050405020304" pitchFamily="18" charset="0"/>
                <a:cs typeface="Times New Roman" panose="02020603050405020304" pitchFamily="18" charset="0"/>
              </a:rPr>
              <a:t>Microscale Inc.</a:t>
            </a:r>
          </a:p>
          <a:p>
            <a:pPr lvl="2">
              <a:lnSpc>
                <a:spcPct val="150000"/>
              </a:lnSpc>
            </a:pPr>
            <a:r>
              <a:rPr lang="en-IN" sz="2000" dirty="0">
                <a:latin typeface="Times New Roman" panose="02020603050405020304" pitchFamily="18" charset="0"/>
                <a:cs typeface="Times New Roman" panose="02020603050405020304" pitchFamily="18" charset="0"/>
              </a:rPr>
              <a:t>Mini </a:t>
            </a:r>
            <a:r>
              <a:rPr lang="en-IN" sz="2000" dirty="0" err="1">
                <a:latin typeface="Times New Roman" panose="02020603050405020304" pitchFamily="18" charset="0"/>
                <a:cs typeface="Times New Roman" panose="02020603050405020304" pitchFamily="18" charset="0"/>
              </a:rPr>
              <a:t>Caravy</a:t>
            </a:r>
            <a:endParaRPr lang="en-IN" sz="2000" dirty="0">
              <a:latin typeface="Times New Roman" panose="02020603050405020304" pitchFamily="18" charset="0"/>
              <a:cs typeface="Times New Roman" panose="02020603050405020304" pitchFamily="18" charset="0"/>
            </a:endParaRPr>
          </a:p>
          <a:p>
            <a:pPr lvl="2">
              <a:lnSpc>
                <a:spcPct val="150000"/>
              </a:lnSpc>
            </a:pPr>
            <a:r>
              <a:rPr lang="en-IN" sz="2000" dirty="0">
                <a:latin typeface="Times New Roman" panose="02020603050405020304" pitchFamily="18" charset="0"/>
                <a:cs typeface="Times New Roman" panose="02020603050405020304" pitchFamily="18" charset="0"/>
              </a:rPr>
              <a:t>Motor Mint Distributors Inc.</a:t>
            </a:r>
          </a:p>
          <a:p>
            <a:endParaRPr lang="en-IN" dirty="0"/>
          </a:p>
        </p:txBody>
      </p:sp>
    </p:spTree>
    <p:extLst>
      <p:ext uri="{BB962C8B-B14F-4D97-AF65-F5344CB8AC3E}">
        <p14:creationId xmlns:p14="http://schemas.microsoft.com/office/powerpoint/2010/main" val="4067456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2404A-D3F0-1E02-0038-B0844A9F34D5}"/>
              </a:ext>
            </a:extLst>
          </p:cNvPr>
          <p:cNvSpPr>
            <a:spLocks noGrp="1"/>
          </p:cNvSpPr>
          <p:nvPr>
            <p:ph type="title"/>
          </p:nvPr>
        </p:nvSpPr>
        <p:spPr/>
        <p:txBody>
          <a:bodyPr/>
          <a:lstStyle/>
          <a:p>
            <a:r>
              <a:rPr lang="en-IN" dirty="0"/>
              <a:t>Customers In the Verge of Churning [cont..]</a:t>
            </a:r>
          </a:p>
        </p:txBody>
      </p:sp>
      <p:sp>
        <p:nvSpPr>
          <p:cNvPr id="3" name="Content Placeholder 2">
            <a:extLst>
              <a:ext uri="{FF2B5EF4-FFF2-40B4-BE49-F238E27FC236}">
                <a16:creationId xmlns:a16="http://schemas.microsoft.com/office/drawing/2014/main" id="{ECDD0E26-6605-0B06-AB6C-20469A13E42E}"/>
              </a:ext>
            </a:extLst>
          </p:cNvPr>
          <p:cNvSpPr>
            <a:spLocks noGrp="1"/>
          </p:cNvSpPr>
          <p:nvPr>
            <p:ph idx="1"/>
          </p:nvPr>
        </p:nvSpPr>
        <p:spPr/>
        <p:txBody>
          <a:bodyPr>
            <a:normAutofit/>
          </a:bodyPr>
          <a:lstStyle/>
          <a:p>
            <a:pPr>
              <a:lnSpc>
                <a:spcPct val="150000"/>
              </a:lnSpc>
            </a:pPr>
            <a:r>
              <a:rPr lang="en-IN" sz="2000" dirty="0">
                <a:latin typeface="Times New Roman" panose="02020603050405020304" pitchFamily="18" charset="0"/>
                <a:cs typeface="Times New Roman" panose="02020603050405020304" pitchFamily="18" charset="0"/>
              </a:rPr>
              <a:t>Online Mini Collectables</a:t>
            </a:r>
          </a:p>
          <a:p>
            <a:pPr>
              <a:lnSpc>
                <a:spcPct val="150000"/>
              </a:lnSpc>
            </a:pPr>
            <a:r>
              <a:rPr lang="en-IN" sz="2000" dirty="0">
                <a:latin typeface="Times New Roman" panose="02020603050405020304" pitchFamily="18" charset="0"/>
                <a:cs typeface="Times New Roman" panose="02020603050405020304" pitchFamily="18" charset="0"/>
              </a:rPr>
              <a:t>Osaka </a:t>
            </a:r>
            <a:r>
              <a:rPr lang="en-IN" sz="2000" dirty="0" err="1">
                <a:latin typeface="Times New Roman" panose="02020603050405020304" pitchFamily="18" charset="0"/>
                <a:cs typeface="Times New Roman" panose="02020603050405020304" pitchFamily="18" charset="0"/>
              </a:rPr>
              <a:t>Souveniers</a:t>
            </a:r>
            <a:r>
              <a:rPr lang="en-IN" sz="2000" dirty="0">
                <a:latin typeface="Times New Roman" panose="02020603050405020304" pitchFamily="18" charset="0"/>
                <a:cs typeface="Times New Roman" panose="02020603050405020304" pitchFamily="18" charset="0"/>
              </a:rPr>
              <a:t> Co.</a:t>
            </a:r>
          </a:p>
          <a:p>
            <a:pPr>
              <a:lnSpc>
                <a:spcPct val="150000"/>
              </a:lnSpc>
            </a:pPr>
            <a:r>
              <a:rPr lang="en-IN" sz="2000" dirty="0">
                <a:latin typeface="Times New Roman" panose="02020603050405020304" pitchFamily="18" charset="0"/>
                <a:cs typeface="Times New Roman" panose="02020603050405020304" pitchFamily="18" charset="0"/>
              </a:rPr>
              <a:t>Petit Auto</a:t>
            </a:r>
          </a:p>
          <a:p>
            <a:pPr>
              <a:lnSpc>
                <a:spcPct val="150000"/>
              </a:lnSpc>
            </a:pPr>
            <a:r>
              <a:rPr lang="en-IN" sz="2000" dirty="0">
                <a:latin typeface="Times New Roman" panose="02020603050405020304" pitchFamily="18" charset="0"/>
                <a:cs typeface="Times New Roman" panose="02020603050405020304" pitchFamily="18" charset="0"/>
              </a:rPr>
              <a:t>Super Scale Inc.</a:t>
            </a:r>
          </a:p>
          <a:p>
            <a:pPr>
              <a:lnSpc>
                <a:spcPct val="150000"/>
              </a:lnSpc>
            </a:pPr>
            <a:r>
              <a:rPr lang="en-IN" sz="2000" dirty="0" err="1">
                <a:latin typeface="Times New Roman" panose="02020603050405020304" pitchFamily="18" charset="0"/>
                <a:cs typeface="Times New Roman" panose="02020603050405020304" pitchFamily="18" charset="0"/>
              </a:rPr>
              <a:t>Vitachrome</a:t>
            </a:r>
            <a:r>
              <a:rPr lang="en-IN" sz="2000" dirty="0">
                <a:latin typeface="Times New Roman" panose="02020603050405020304" pitchFamily="18" charset="0"/>
                <a:cs typeface="Times New Roman" panose="02020603050405020304" pitchFamily="18" charset="0"/>
              </a:rPr>
              <a:t> Inc.</a:t>
            </a:r>
          </a:p>
          <a:p>
            <a:pPr>
              <a:lnSpc>
                <a:spcPct val="150000"/>
              </a:lnSpc>
            </a:pPr>
            <a:r>
              <a:rPr lang="en-IN" sz="2000" dirty="0">
                <a:latin typeface="Times New Roman" panose="02020603050405020304" pitchFamily="18" charset="0"/>
                <a:cs typeface="Times New Roman" panose="02020603050405020304" pitchFamily="18" charset="0"/>
              </a:rPr>
              <a:t>West Coast Collectables Co </a:t>
            </a:r>
          </a:p>
        </p:txBody>
      </p:sp>
    </p:spTree>
    <p:extLst>
      <p:ext uri="{BB962C8B-B14F-4D97-AF65-F5344CB8AC3E}">
        <p14:creationId xmlns:p14="http://schemas.microsoft.com/office/powerpoint/2010/main" val="662025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E9B0-AC90-9A26-FB63-BC70B7747EA0}"/>
              </a:ext>
            </a:extLst>
          </p:cNvPr>
          <p:cNvSpPr>
            <a:spLocks noGrp="1"/>
          </p:cNvSpPr>
          <p:nvPr>
            <p:ph type="title"/>
          </p:nvPr>
        </p:nvSpPr>
        <p:spPr/>
        <p:txBody>
          <a:bodyPr/>
          <a:lstStyle/>
          <a:p>
            <a:r>
              <a:rPr lang="en-IN" dirty="0"/>
              <a:t>Lost Customers</a:t>
            </a:r>
          </a:p>
        </p:txBody>
      </p:sp>
      <p:sp>
        <p:nvSpPr>
          <p:cNvPr id="3" name="Content Placeholder 2">
            <a:extLst>
              <a:ext uri="{FF2B5EF4-FFF2-40B4-BE49-F238E27FC236}">
                <a16:creationId xmlns:a16="http://schemas.microsoft.com/office/drawing/2014/main" id="{7153193A-59C5-414C-B05E-3967375815E6}"/>
              </a:ext>
            </a:extLst>
          </p:cNvPr>
          <p:cNvSpPr>
            <a:spLocks noGrp="1"/>
          </p:cNvSpPr>
          <p:nvPr>
            <p:ph idx="1"/>
          </p:nvPr>
        </p:nvSpPr>
        <p:spPr>
          <a:xfrm>
            <a:off x="1154954" y="2603500"/>
            <a:ext cx="9592763" cy="3881706"/>
          </a:xfrm>
        </p:spPr>
        <p:txBody>
          <a:bodyPr>
            <a:normAutofit fontScale="92500" lnSpcReduction="10000"/>
          </a:bodyPr>
          <a:lstStyle/>
          <a:p>
            <a:r>
              <a:rPr lang="en-IN" sz="2000" dirty="0">
                <a:latin typeface="Times New Roman" panose="02020603050405020304" pitchFamily="18" charset="0"/>
                <a:cs typeface="Times New Roman" panose="02020603050405020304" pitchFamily="18" charset="0"/>
              </a:rPr>
              <a:t>Alpha Cognac</a:t>
            </a:r>
          </a:p>
          <a:p>
            <a:r>
              <a:rPr lang="en-IN" sz="2000" dirty="0">
                <a:latin typeface="Times New Roman" panose="02020603050405020304" pitchFamily="18" charset="0"/>
                <a:cs typeface="Times New Roman" panose="02020603050405020304" pitchFamily="18" charset="0"/>
              </a:rPr>
              <a:t>Auto-Moto Classics Inc.</a:t>
            </a:r>
          </a:p>
          <a:p>
            <a:r>
              <a:rPr lang="en-IN" sz="2000" dirty="0">
                <a:latin typeface="Times New Roman" panose="02020603050405020304" pitchFamily="18" charset="0"/>
                <a:cs typeface="Times New Roman" panose="02020603050405020304" pitchFamily="18" charset="0"/>
              </a:rPr>
              <a:t>Bavarian Collectables Imports, Co.</a:t>
            </a:r>
          </a:p>
          <a:p>
            <a:r>
              <a:rPr lang="en-IN" sz="2000" dirty="0">
                <a:latin typeface="Times New Roman" panose="02020603050405020304" pitchFamily="18" charset="0"/>
                <a:cs typeface="Times New Roman" panose="02020603050405020304" pitchFamily="18" charset="0"/>
              </a:rPr>
              <a:t>Clover Collections, Co.</a:t>
            </a:r>
          </a:p>
          <a:p>
            <a:r>
              <a:rPr lang="en-IN" sz="2000" dirty="0">
                <a:latin typeface="Times New Roman" panose="02020603050405020304" pitchFamily="18" charset="0"/>
                <a:cs typeface="Times New Roman" panose="02020603050405020304" pitchFamily="18" charset="0"/>
              </a:rPr>
              <a:t>Double Decker Gift Stores, Ltd</a:t>
            </a:r>
          </a:p>
          <a:p>
            <a:r>
              <a:rPr lang="en-IN" sz="2000" dirty="0">
                <a:latin typeface="Times New Roman" panose="02020603050405020304" pitchFamily="18" charset="0"/>
                <a:cs typeface="Times New Roman" panose="02020603050405020304" pitchFamily="18" charset="0"/>
              </a:rPr>
              <a:t>Gift Ideas Corp.</a:t>
            </a:r>
          </a:p>
          <a:p>
            <a:r>
              <a:rPr lang="en-IN" sz="2000" dirty="0">
                <a:latin typeface="Times New Roman" panose="02020603050405020304" pitchFamily="18" charset="0"/>
                <a:cs typeface="Times New Roman" panose="02020603050405020304" pitchFamily="18" charset="0"/>
              </a:rPr>
              <a:t>Iberia Gift Imports, Corp.</a:t>
            </a:r>
          </a:p>
          <a:p>
            <a:r>
              <a:rPr lang="en-IN" sz="2000" dirty="0">
                <a:latin typeface="Times New Roman" panose="02020603050405020304" pitchFamily="18" charset="0"/>
                <a:cs typeface="Times New Roman" panose="02020603050405020304" pitchFamily="18" charset="0"/>
              </a:rPr>
              <a:t>Mini Auto Werke</a:t>
            </a:r>
          </a:p>
          <a:p>
            <a:r>
              <a:rPr lang="en-IN" sz="2000" dirty="0">
                <a:latin typeface="Times New Roman" panose="02020603050405020304" pitchFamily="18" charset="0"/>
                <a:cs typeface="Times New Roman" panose="02020603050405020304" pitchFamily="18" charset="0"/>
              </a:rPr>
              <a:t>Royale </a:t>
            </a:r>
            <a:r>
              <a:rPr lang="en-IN" sz="2000" dirty="0" err="1">
                <a:latin typeface="Times New Roman" panose="02020603050405020304" pitchFamily="18" charset="0"/>
                <a:cs typeface="Times New Roman" panose="02020603050405020304" pitchFamily="18" charset="0"/>
              </a:rPr>
              <a:t>Belge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Signal Collectibles Ltd.</a:t>
            </a:r>
          </a:p>
          <a:p>
            <a:endParaRPr lang="en-IN" dirty="0"/>
          </a:p>
        </p:txBody>
      </p:sp>
    </p:spTree>
    <p:extLst>
      <p:ext uri="{BB962C8B-B14F-4D97-AF65-F5344CB8AC3E}">
        <p14:creationId xmlns:p14="http://schemas.microsoft.com/office/powerpoint/2010/main" val="1405643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EE807-CDAA-2AFD-9B37-CBB17FF4E52E}"/>
              </a:ext>
            </a:extLst>
          </p:cNvPr>
          <p:cNvSpPr>
            <a:spLocks noGrp="1"/>
          </p:cNvSpPr>
          <p:nvPr>
            <p:ph type="ctrTitle"/>
          </p:nvPr>
        </p:nvSpPr>
        <p:spPr/>
        <p:txBody>
          <a:bodyPr/>
          <a:lstStyle/>
          <a:p>
            <a:r>
              <a:rPr lang="en-IN" dirty="0"/>
              <a:t>Thank You</a:t>
            </a:r>
          </a:p>
        </p:txBody>
      </p:sp>
    </p:spTree>
    <p:extLst>
      <p:ext uri="{BB962C8B-B14F-4D97-AF65-F5344CB8AC3E}">
        <p14:creationId xmlns:p14="http://schemas.microsoft.com/office/powerpoint/2010/main" val="35690754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206</TotalTime>
  <Words>693</Words>
  <Application>Microsoft Office PowerPoint</Application>
  <PresentationFormat>Widescreen</PresentationFormat>
  <Paragraphs>96</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Century Gothic</vt:lpstr>
      <vt:lpstr>lato</vt:lpstr>
      <vt:lpstr>Times New Roman</vt:lpstr>
      <vt:lpstr>Wingdings</vt:lpstr>
      <vt:lpstr>Wingdings 3</vt:lpstr>
      <vt:lpstr>Ion Boardroom</vt:lpstr>
      <vt:lpstr>MRA Project - Milestone 1</vt:lpstr>
      <vt:lpstr>Table of Contents</vt:lpstr>
      <vt:lpstr>Problem Statement</vt:lpstr>
      <vt:lpstr>About Data</vt:lpstr>
      <vt:lpstr>About Data [Cont..]</vt:lpstr>
      <vt:lpstr>Exploratory Analysis – Yearly Sales Trend</vt:lpstr>
      <vt:lpstr>Quarterly Sales Trend</vt:lpstr>
      <vt:lpstr>Year Wise - Quarterly Sales Trend</vt:lpstr>
      <vt:lpstr>Monthly Sales Trend</vt:lpstr>
      <vt:lpstr>Year Wise - Monthly Sales Trend</vt:lpstr>
      <vt:lpstr>Weekly Sales Trend</vt:lpstr>
      <vt:lpstr>Inferences From Sales Trends</vt:lpstr>
      <vt:lpstr>Sales Across Different Product lines</vt:lpstr>
      <vt:lpstr>Inference</vt:lpstr>
      <vt:lpstr>RFM - Analysis</vt:lpstr>
      <vt:lpstr>RFM – Assumptions and Parameters Used</vt:lpstr>
      <vt:lpstr>KNIME Work-Flow Used to compute Segmentation based on RFM</vt:lpstr>
      <vt:lpstr>RFM Metrics</vt:lpstr>
      <vt:lpstr>Best Customers</vt:lpstr>
      <vt:lpstr>Loyal Customers</vt:lpstr>
      <vt:lpstr>Customers In the Verge of Churning</vt:lpstr>
      <vt:lpstr>Customers In the Verge of Churning [cont..]</vt:lpstr>
      <vt:lpstr>Lost Customers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 Milestone 1</dc:title>
  <dc:creator>kiran nagabhushana</dc:creator>
  <cp:lastModifiedBy>kiran nagabhushana</cp:lastModifiedBy>
  <cp:revision>8</cp:revision>
  <dcterms:created xsi:type="dcterms:W3CDTF">2022-09-03T13:39:35Z</dcterms:created>
  <dcterms:modified xsi:type="dcterms:W3CDTF">2022-09-03T17:06:16Z</dcterms:modified>
</cp:coreProperties>
</file>