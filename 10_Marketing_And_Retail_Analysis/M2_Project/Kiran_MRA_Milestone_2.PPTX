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581195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532918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75168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C0FD43-2479-469A-8236-DDF79F84B8C3}" type="datetimeFigureOut">
              <a:rPr lang="en-IN" smtClean="0"/>
              <a:t>11-09-2022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1083147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C0FD43-2479-469A-8236-DDF79F84B8C3}" type="datetimeFigureOut">
              <a:rPr lang="en-IN" smtClean="0"/>
              <a:t>11-09-2022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522271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C0FD43-2479-469A-8236-DDF79F84B8C3}" type="datetimeFigureOut">
              <a:rPr lang="en-IN" smtClean="0"/>
              <a:t>11-09-2022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78637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0FD43-2479-469A-8236-DDF79F84B8C3}" type="datetimeFigureOut">
              <a:rPr lang="en-IN" smtClean="0"/>
              <a:t>11-09-2022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862996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C0FD43-2479-469A-8236-DDF79F84B8C3}" type="datetimeFigureOut">
              <a:rPr lang="en-IN" smtClean="0"/>
              <a:t>11-09-2022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06878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C0FD43-2479-469A-8236-DDF79F84B8C3}" type="datetimeFigureOut">
              <a:rPr lang="en-IN" smtClean="0"/>
              <a:t>11-09-2022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542585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C0FD43-2479-469A-8236-DDF79F84B8C3}" type="datetimeFigureOut">
              <a:rPr lang="en-IN" smtClean="0"/>
              <a:t>11-09-2022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74345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090606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3933428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311305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C0FD43-2479-469A-8236-DDF79F84B8C3}" type="datetimeFigureOut">
              <a:rPr lang="en-IN" smtClean="0"/>
              <a:t>11-09-2022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2805619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C0FD43-2479-469A-8236-DDF79F84B8C3}" type="datetimeFigureOut">
              <a:rPr lang="en-IN" smtClean="0"/>
              <a:t>11-09-2022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86771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1689474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6C0FD43-2479-469A-8236-DDF79F84B8C3}" type="datetimeFigureOut">
              <a:rPr lang="en-IN" smtClean="0"/>
              <a:t>11-09-2022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044993-68EE-407B-952B-7BA9E65D9392}" type="slidenum">
              <a:rPr lang="en-IN" smtClean="0"/>
              <a:t>‹#›</a:t>
            </a:fld>
            <a:endParaRPr lang="en-IN"/>
          </a:p>
        </p:txBody>
      </p:sp>
    </p:spTree>
    <p:extLst>
      <p:ext uri="{BB962C8B-B14F-4D97-AF65-F5344CB8AC3E}">
        <p14:creationId xmlns:p14="http://schemas.microsoft.com/office/powerpoint/2010/main" val="3352871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6C0FD43-2479-469A-8236-DDF79F84B8C3}" type="datetimeFigureOut">
              <a:rPr lang="en-IN" smtClean="0"/>
              <a:t>11-09-2022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3044993-68EE-407B-952B-7BA9E65D9392}" type="slidenum">
              <a:rPr lang="en-IN" smtClean="0"/>
              <a:t>‹#›</a:t>
            </a:fld>
            <a:endParaRPr lang="en-IN"/>
          </a:p>
        </p:txBody>
      </p:sp>
    </p:spTree>
    <p:extLst>
      <p:ext uri="{BB962C8B-B14F-4D97-AF65-F5344CB8AC3E}">
        <p14:creationId xmlns:p14="http://schemas.microsoft.com/office/powerpoint/2010/main" val="23405820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package" Target="../embeddings/Microsoft_Excel_Worksheet1.xlsx"/><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689E5-E9B1-AED5-630D-19C433795495}"/>
              </a:ext>
            </a:extLst>
          </p:cNvPr>
          <p:cNvSpPr>
            <a:spLocks noGrp="1"/>
          </p:cNvSpPr>
          <p:nvPr>
            <p:ph type="ctrTitle"/>
          </p:nvPr>
        </p:nvSpPr>
        <p:spPr/>
        <p:txBody>
          <a:bodyPr/>
          <a:lstStyle/>
          <a:p>
            <a:r>
              <a:rPr lang="en-IN" b="0" i="0" dirty="0">
                <a:solidFill>
                  <a:srgbClr val="000000"/>
                </a:solidFill>
                <a:effectLst/>
                <a:latin typeface="lato" panose="020F0502020204030203" pitchFamily="34" charset="0"/>
              </a:rPr>
              <a:t>MRA Project - Milestone 2</a:t>
            </a:r>
            <a:endParaRPr lang="en-IN" dirty="0"/>
          </a:p>
        </p:txBody>
      </p:sp>
      <p:sp>
        <p:nvSpPr>
          <p:cNvPr id="3" name="Subtitle 2">
            <a:extLst>
              <a:ext uri="{FF2B5EF4-FFF2-40B4-BE49-F238E27FC236}">
                <a16:creationId xmlns:a16="http://schemas.microsoft.com/office/drawing/2014/main" id="{CD1D72D4-EEAC-0337-5426-6D1518A7BF42}"/>
              </a:ext>
            </a:extLst>
          </p:cNvPr>
          <p:cNvSpPr>
            <a:spLocks noGrp="1"/>
          </p:cNvSpPr>
          <p:nvPr>
            <p:ph type="subTitle" idx="1"/>
          </p:nvPr>
        </p:nvSpPr>
        <p:spPr/>
        <p:txBody>
          <a:bodyPr/>
          <a:lstStyle/>
          <a:p>
            <a:r>
              <a:rPr lang="en-IN" dirty="0"/>
              <a:t>Great-Learning : </a:t>
            </a:r>
            <a:r>
              <a:rPr lang="en-IN" dirty="0" err="1"/>
              <a:t>Kiran.N</a:t>
            </a:r>
            <a:endParaRPr lang="en-IN" dirty="0"/>
          </a:p>
        </p:txBody>
      </p:sp>
    </p:spTree>
    <p:extLst>
      <p:ext uri="{BB962C8B-B14F-4D97-AF65-F5344CB8AC3E}">
        <p14:creationId xmlns:p14="http://schemas.microsoft.com/office/powerpoint/2010/main" val="626547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F6CFF-B7FC-6C92-4C35-BB1C82B9C79A}"/>
              </a:ext>
            </a:extLst>
          </p:cNvPr>
          <p:cNvSpPr>
            <a:spLocks noGrp="1"/>
          </p:cNvSpPr>
          <p:nvPr>
            <p:ph type="title"/>
          </p:nvPr>
        </p:nvSpPr>
        <p:spPr/>
        <p:txBody>
          <a:bodyPr/>
          <a:lstStyle/>
          <a:p>
            <a:r>
              <a:rPr lang="en-US" dirty="0"/>
              <a:t>Table Of Content</a:t>
            </a:r>
            <a:endParaRPr lang="en-IN" dirty="0"/>
          </a:p>
        </p:txBody>
      </p:sp>
      <p:sp>
        <p:nvSpPr>
          <p:cNvPr id="3" name="Content Placeholder 2">
            <a:extLst>
              <a:ext uri="{FF2B5EF4-FFF2-40B4-BE49-F238E27FC236}">
                <a16:creationId xmlns:a16="http://schemas.microsoft.com/office/drawing/2014/main" id="{419D6E96-3F01-056C-7CD9-D8A567636715}"/>
              </a:ext>
            </a:extLst>
          </p:cNvPr>
          <p:cNvSpPr>
            <a:spLocks noGrp="1"/>
          </p:cNvSpPr>
          <p:nvPr>
            <p:ph idx="1"/>
          </p:nvPr>
        </p:nvSpPr>
        <p:spPr>
          <a:xfrm>
            <a:off x="1154953" y="2349305"/>
            <a:ext cx="10591569" cy="4346917"/>
          </a:xfrm>
        </p:spPr>
        <p:txBody>
          <a:bodyPr>
            <a:normAutofit fontScale="85000" lnSpcReduction="20000"/>
          </a:bodyPr>
          <a:lstStyle/>
          <a:p>
            <a:pPr>
              <a:lnSpc>
                <a:spcPct val="150000"/>
              </a:lnSpc>
            </a:pPr>
            <a:r>
              <a:rPr lang="en-US" sz="2000" dirty="0">
                <a:latin typeface="Times New Roman" panose="02020603050405020304" pitchFamily="18" charset="0"/>
                <a:cs typeface="Times New Roman" panose="02020603050405020304" pitchFamily="18" charset="0"/>
              </a:rPr>
              <a:t>Problem Statement</a:t>
            </a:r>
          </a:p>
          <a:p>
            <a:pPr>
              <a:lnSpc>
                <a:spcPct val="150000"/>
              </a:lnSpc>
            </a:pPr>
            <a:r>
              <a:rPr lang="en-US" sz="2000" dirty="0">
                <a:latin typeface="Times New Roman" panose="02020603050405020304" pitchFamily="18" charset="0"/>
                <a:cs typeface="Times New Roman" panose="02020603050405020304" pitchFamily="18" charset="0"/>
              </a:rPr>
              <a:t>About Data</a:t>
            </a:r>
          </a:p>
          <a:p>
            <a:pPr>
              <a:lnSpc>
                <a:spcPct val="150000"/>
              </a:lnSpc>
            </a:pPr>
            <a:r>
              <a:rPr lang="en-US" sz="2000" dirty="0">
                <a:latin typeface="Times New Roman" panose="02020603050405020304" pitchFamily="18" charset="0"/>
                <a:cs typeface="Times New Roman" panose="02020603050405020304" pitchFamily="18" charset="0"/>
              </a:rPr>
              <a:t>Exploratory Data Analysis</a:t>
            </a:r>
          </a:p>
          <a:p>
            <a:pPr>
              <a:lnSpc>
                <a:spcPct val="150000"/>
              </a:lnSpc>
            </a:pPr>
            <a:r>
              <a:rPr lang="en-US" sz="2000" dirty="0">
                <a:latin typeface="Times New Roman" panose="02020603050405020304" pitchFamily="18" charset="0"/>
                <a:cs typeface="Times New Roman" panose="02020603050405020304" pitchFamily="18" charset="0"/>
              </a:rPr>
              <a:t>Association Rules</a:t>
            </a:r>
          </a:p>
          <a:p>
            <a:pPr>
              <a:lnSpc>
                <a:spcPct val="150000"/>
              </a:lnSpc>
            </a:pPr>
            <a:r>
              <a:rPr lang="en-US" sz="2000" dirty="0">
                <a:latin typeface="Times New Roman" panose="02020603050405020304" pitchFamily="18" charset="0"/>
                <a:cs typeface="Times New Roman" panose="02020603050405020304" pitchFamily="18" charset="0"/>
              </a:rPr>
              <a:t>KNIME Work Flow</a:t>
            </a:r>
          </a:p>
          <a:p>
            <a:pPr>
              <a:lnSpc>
                <a:spcPct val="150000"/>
              </a:lnSpc>
            </a:pPr>
            <a:r>
              <a:rPr lang="en-US" sz="2000" dirty="0">
                <a:latin typeface="Times New Roman" panose="02020603050405020304" pitchFamily="18" charset="0"/>
                <a:cs typeface="Times New Roman" panose="02020603050405020304" pitchFamily="18" charset="0"/>
              </a:rPr>
              <a:t>Threshold Values used for Computation</a:t>
            </a:r>
          </a:p>
          <a:p>
            <a:pPr>
              <a:lnSpc>
                <a:spcPct val="150000"/>
              </a:lnSpc>
            </a:pPr>
            <a:r>
              <a:rPr lang="en-US" sz="2000" dirty="0">
                <a:latin typeface="Times New Roman" panose="02020603050405020304" pitchFamily="18" charset="0"/>
                <a:cs typeface="Times New Roman" panose="02020603050405020304" pitchFamily="18" charset="0"/>
              </a:rPr>
              <a:t>Computed Association Rules</a:t>
            </a:r>
          </a:p>
          <a:p>
            <a:pPr>
              <a:lnSpc>
                <a:spcPct val="150000"/>
              </a:lnSpc>
            </a:pPr>
            <a:r>
              <a:rPr lang="en-US" sz="2000" dirty="0">
                <a:latin typeface="Times New Roman" panose="02020603050405020304" pitchFamily="18" charset="0"/>
                <a:cs typeface="Times New Roman" panose="02020603050405020304" pitchFamily="18" charset="0"/>
              </a:rPr>
              <a:t>Support, Confidence &amp; Lift</a:t>
            </a:r>
          </a:p>
          <a:p>
            <a:pPr>
              <a:lnSpc>
                <a:spcPct val="150000"/>
              </a:lnSpc>
            </a:pPr>
            <a:r>
              <a:rPr lang="en-US" sz="2000" dirty="0">
                <a:latin typeface="Times New Roman" panose="02020603050405020304" pitchFamily="18" charset="0"/>
                <a:cs typeface="Times New Roman" panose="02020603050405020304" pitchFamily="18" charset="0"/>
              </a:rPr>
              <a:t>Recommendations</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904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3B09-ECF6-A9D0-8355-4A1B49EFD5A8}"/>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9551AFA4-DBDF-4E96-4B7F-A4880806409C}"/>
              </a:ext>
            </a:extLst>
          </p:cNvPr>
          <p:cNvSpPr>
            <a:spLocks noGrp="1"/>
          </p:cNvSpPr>
          <p:nvPr>
            <p:ph idx="1"/>
          </p:nvPr>
        </p:nvSpPr>
        <p:spPr>
          <a:xfrm>
            <a:off x="984739" y="2603500"/>
            <a:ext cx="9158068" cy="3416300"/>
          </a:xfrm>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A Grocery Store shared the transactional data with you. Your job is to identify the most popular combos that can be suggested to the Grocery Store chain after a thorough analysis of the most commonly occurring sets of menu items in the customer orders. The Store doesn’t have any combo meals. Can you suggest the best combo meals?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0328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8975-1AA0-540A-1660-F9A0769AC1DD}"/>
              </a:ext>
            </a:extLst>
          </p:cNvPr>
          <p:cNvSpPr>
            <a:spLocks noGrp="1"/>
          </p:cNvSpPr>
          <p:nvPr>
            <p:ph type="title"/>
          </p:nvPr>
        </p:nvSpPr>
        <p:spPr/>
        <p:txBody>
          <a:bodyPr/>
          <a:lstStyle/>
          <a:p>
            <a:r>
              <a:rPr lang="en-US" dirty="0"/>
              <a:t>About Data</a:t>
            </a:r>
            <a:endParaRPr lang="en-IN" dirty="0"/>
          </a:p>
        </p:txBody>
      </p:sp>
      <p:sp>
        <p:nvSpPr>
          <p:cNvPr id="3" name="Content Placeholder 2">
            <a:extLst>
              <a:ext uri="{FF2B5EF4-FFF2-40B4-BE49-F238E27FC236}">
                <a16:creationId xmlns:a16="http://schemas.microsoft.com/office/drawing/2014/main" id="{0402BBF9-BA62-D5F0-6F8A-57DE1D614CC8}"/>
              </a:ext>
            </a:extLst>
          </p:cNvPr>
          <p:cNvSpPr>
            <a:spLocks noGrp="1"/>
          </p:cNvSpPr>
          <p:nvPr>
            <p:ph idx="1"/>
          </p:nvPr>
        </p:nvSpPr>
        <p:spPr>
          <a:xfrm>
            <a:off x="1154954" y="2603500"/>
            <a:ext cx="10253944" cy="3416300"/>
          </a:xfrm>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In the given dataset each row represent one item of an Order.</a:t>
            </a:r>
          </a:p>
          <a:p>
            <a:pPr algn="just">
              <a:lnSpc>
                <a:spcPct val="150000"/>
              </a:lnSpc>
            </a:pPr>
            <a:r>
              <a:rPr lang="en-US" sz="2000" dirty="0">
                <a:latin typeface="Times New Roman" panose="02020603050405020304" pitchFamily="18" charset="0"/>
                <a:cs typeface="Times New Roman" panose="02020603050405020304" pitchFamily="18" charset="0"/>
              </a:rPr>
              <a:t>Given dataset has 3 columns with 20641 rows.</a:t>
            </a:r>
          </a:p>
          <a:p>
            <a:pPr algn="just">
              <a:lnSpc>
                <a:spcPct val="150000"/>
              </a:lnSpc>
            </a:pPr>
            <a:r>
              <a:rPr lang="en-US" sz="2000" dirty="0">
                <a:latin typeface="Times New Roman" panose="02020603050405020304" pitchFamily="18" charset="0"/>
                <a:cs typeface="Times New Roman" panose="02020603050405020304" pitchFamily="18" charset="0"/>
              </a:rPr>
              <a:t>Out of 3 columns 1 is of date type, 1 is numeric and 1 is object/string type.</a:t>
            </a:r>
          </a:p>
          <a:p>
            <a:pPr algn="just">
              <a:lnSpc>
                <a:spcPct val="150000"/>
              </a:lnSpc>
            </a:pPr>
            <a:r>
              <a:rPr lang="en-IN" sz="2000" dirty="0">
                <a:latin typeface="Times New Roman" panose="02020603050405020304" pitchFamily="18" charset="0"/>
                <a:cs typeface="Times New Roman" panose="02020603050405020304" pitchFamily="18" charset="0"/>
              </a:rPr>
              <a:t>There are no null values present in the data.</a:t>
            </a:r>
          </a:p>
          <a:p>
            <a:pPr algn="just">
              <a:lnSpc>
                <a:spcPct val="150000"/>
              </a:lnSpc>
            </a:pPr>
            <a:r>
              <a:rPr lang="en-US" sz="2000" dirty="0">
                <a:latin typeface="Times New Roman" panose="02020603050405020304" pitchFamily="18" charset="0"/>
                <a:cs typeface="Times New Roman" panose="02020603050405020304" pitchFamily="18" charset="0"/>
              </a:rPr>
              <a:t> There are total 1139 unique orders with multiple items in each order.</a:t>
            </a:r>
          </a:p>
          <a:p>
            <a:endParaRPr lang="en-IN" dirty="0"/>
          </a:p>
        </p:txBody>
      </p:sp>
    </p:spTree>
    <p:extLst>
      <p:ext uri="{BB962C8B-B14F-4D97-AF65-F5344CB8AC3E}">
        <p14:creationId xmlns:p14="http://schemas.microsoft.com/office/powerpoint/2010/main" val="80421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50E69-F5AF-0430-F787-89132B5863FC}"/>
              </a:ext>
            </a:extLst>
          </p:cNvPr>
          <p:cNvSpPr>
            <a:spLocks noGrp="1"/>
          </p:cNvSpPr>
          <p:nvPr>
            <p:ph type="title"/>
          </p:nvPr>
        </p:nvSpPr>
        <p:spPr>
          <a:xfrm>
            <a:off x="1154954" y="973668"/>
            <a:ext cx="9198868" cy="706964"/>
          </a:xfrm>
        </p:spPr>
        <p:txBody>
          <a:bodyPr/>
          <a:lstStyle/>
          <a:p>
            <a:r>
              <a:rPr lang="en-IN" dirty="0"/>
              <a:t>Exploratory Analysis – Yearly Trend</a:t>
            </a:r>
          </a:p>
        </p:txBody>
      </p:sp>
      <p:pic>
        <p:nvPicPr>
          <p:cNvPr id="5" name="Picture 4">
            <a:extLst>
              <a:ext uri="{FF2B5EF4-FFF2-40B4-BE49-F238E27FC236}">
                <a16:creationId xmlns:a16="http://schemas.microsoft.com/office/drawing/2014/main" id="{3CA2AADE-743F-6637-FE8B-FC0EBF9622D1}"/>
              </a:ext>
            </a:extLst>
          </p:cNvPr>
          <p:cNvPicPr>
            <a:picLocks noChangeAspect="1"/>
          </p:cNvPicPr>
          <p:nvPr/>
        </p:nvPicPr>
        <p:blipFill>
          <a:blip r:embed="rId2"/>
          <a:stretch>
            <a:fillRect/>
          </a:stretch>
        </p:blipFill>
        <p:spPr>
          <a:xfrm>
            <a:off x="2560320" y="2519969"/>
            <a:ext cx="8002026" cy="4338031"/>
          </a:xfrm>
          <a:prstGeom prst="rect">
            <a:avLst/>
          </a:prstGeom>
        </p:spPr>
      </p:pic>
    </p:spTree>
    <p:extLst>
      <p:ext uri="{BB962C8B-B14F-4D97-AF65-F5344CB8AC3E}">
        <p14:creationId xmlns:p14="http://schemas.microsoft.com/office/powerpoint/2010/main" val="3487062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C5232-0CD8-8CDB-6E4D-D878013386AD}"/>
              </a:ext>
            </a:extLst>
          </p:cNvPr>
          <p:cNvSpPr>
            <a:spLocks noGrp="1"/>
          </p:cNvSpPr>
          <p:nvPr>
            <p:ph type="title"/>
          </p:nvPr>
        </p:nvSpPr>
        <p:spPr/>
        <p:txBody>
          <a:bodyPr/>
          <a:lstStyle/>
          <a:p>
            <a:r>
              <a:rPr lang="en-IN" dirty="0"/>
              <a:t>Year Wise - Quarterly Trend</a:t>
            </a:r>
          </a:p>
        </p:txBody>
      </p:sp>
      <p:pic>
        <p:nvPicPr>
          <p:cNvPr id="5" name="Picture 4">
            <a:extLst>
              <a:ext uri="{FF2B5EF4-FFF2-40B4-BE49-F238E27FC236}">
                <a16:creationId xmlns:a16="http://schemas.microsoft.com/office/drawing/2014/main" id="{EC865DFE-E9C5-497F-A4B7-D64CC18BD8E8}"/>
              </a:ext>
            </a:extLst>
          </p:cNvPr>
          <p:cNvPicPr>
            <a:picLocks noChangeAspect="1"/>
          </p:cNvPicPr>
          <p:nvPr/>
        </p:nvPicPr>
        <p:blipFill>
          <a:blip r:embed="rId2"/>
          <a:stretch>
            <a:fillRect/>
          </a:stretch>
        </p:blipFill>
        <p:spPr>
          <a:xfrm>
            <a:off x="2419642" y="2474637"/>
            <a:ext cx="7661177" cy="4033051"/>
          </a:xfrm>
          <a:prstGeom prst="rect">
            <a:avLst/>
          </a:prstGeom>
        </p:spPr>
      </p:pic>
    </p:spTree>
    <p:extLst>
      <p:ext uri="{BB962C8B-B14F-4D97-AF65-F5344CB8AC3E}">
        <p14:creationId xmlns:p14="http://schemas.microsoft.com/office/powerpoint/2010/main" val="2879391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5993-D2B5-68CB-804D-95C7A8790E87}"/>
              </a:ext>
            </a:extLst>
          </p:cNvPr>
          <p:cNvSpPr>
            <a:spLocks noGrp="1"/>
          </p:cNvSpPr>
          <p:nvPr>
            <p:ph type="title"/>
          </p:nvPr>
        </p:nvSpPr>
        <p:spPr/>
        <p:txBody>
          <a:bodyPr/>
          <a:lstStyle/>
          <a:p>
            <a:r>
              <a:rPr lang="en-IN" dirty="0"/>
              <a:t>Year Wise - Monthly Trend</a:t>
            </a:r>
          </a:p>
        </p:txBody>
      </p:sp>
      <p:pic>
        <p:nvPicPr>
          <p:cNvPr id="5" name="Picture 4">
            <a:extLst>
              <a:ext uri="{FF2B5EF4-FFF2-40B4-BE49-F238E27FC236}">
                <a16:creationId xmlns:a16="http://schemas.microsoft.com/office/drawing/2014/main" id="{12662C43-B7EC-5F35-659F-A12A54509644}"/>
              </a:ext>
            </a:extLst>
          </p:cNvPr>
          <p:cNvPicPr>
            <a:picLocks noChangeAspect="1"/>
          </p:cNvPicPr>
          <p:nvPr/>
        </p:nvPicPr>
        <p:blipFill>
          <a:blip r:embed="rId2"/>
          <a:stretch>
            <a:fillRect/>
          </a:stretch>
        </p:blipFill>
        <p:spPr>
          <a:xfrm>
            <a:off x="2321170" y="2517944"/>
            <a:ext cx="8018584" cy="4281182"/>
          </a:xfrm>
          <a:prstGeom prst="rect">
            <a:avLst/>
          </a:prstGeom>
        </p:spPr>
      </p:pic>
    </p:spTree>
    <p:extLst>
      <p:ext uri="{BB962C8B-B14F-4D97-AF65-F5344CB8AC3E}">
        <p14:creationId xmlns:p14="http://schemas.microsoft.com/office/powerpoint/2010/main" val="545538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BFCF-18ED-581C-ED76-BF06142F085D}"/>
              </a:ext>
            </a:extLst>
          </p:cNvPr>
          <p:cNvSpPr>
            <a:spLocks noGrp="1"/>
          </p:cNvSpPr>
          <p:nvPr>
            <p:ph type="title"/>
          </p:nvPr>
        </p:nvSpPr>
        <p:spPr/>
        <p:txBody>
          <a:bodyPr/>
          <a:lstStyle/>
          <a:p>
            <a:r>
              <a:rPr lang="en-US" dirty="0"/>
              <a:t>Association Rules</a:t>
            </a:r>
            <a:endParaRPr lang="en-IN" dirty="0"/>
          </a:p>
        </p:txBody>
      </p:sp>
      <p:sp>
        <p:nvSpPr>
          <p:cNvPr id="3" name="Content Placeholder 2">
            <a:extLst>
              <a:ext uri="{FF2B5EF4-FFF2-40B4-BE49-F238E27FC236}">
                <a16:creationId xmlns:a16="http://schemas.microsoft.com/office/drawing/2014/main" id="{E07712FD-6403-4CFC-7FA6-8F2B70F3EE67}"/>
              </a:ext>
            </a:extLst>
          </p:cNvPr>
          <p:cNvSpPr>
            <a:spLocks noGrp="1"/>
          </p:cNvSpPr>
          <p:nvPr>
            <p:ph idx="1"/>
          </p:nvPr>
        </p:nvSpPr>
        <p:spPr>
          <a:xfrm>
            <a:off x="1154953" y="2603499"/>
            <a:ext cx="9845981" cy="3811369"/>
          </a:xfrm>
        </p:spPr>
        <p:txBody>
          <a:bodyPr>
            <a:normAutofit lnSpcReduction="10000"/>
          </a:bodyPr>
          <a:lstStyle/>
          <a:p>
            <a:pPr marL="400050" lvl="1" indent="0" algn="just">
              <a:buNone/>
            </a:pPr>
            <a:r>
              <a:rPr lang="en-US" sz="2000" b="0" i="0" dirty="0">
                <a:solidFill>
                  <a:srgbClr val="273239"/>
                </a:solidFill>
                <a:effectLst/>
                <a:latin typeface="Times New Roman" panose="02020603050405020304" pitchFamily="18" charset="0"/>
                <a:cs typeface="Times New Roman" panose="02020603050405020304" pitchFamily="18" charset="0"/>
              </a:rPr>
              <a:t>Association rule mining finds interesting associations and relationships among large sets of data items. This rule shows how frequently a itemset occurs in a transaction. A typical example is a Market Based Analysis.</a:t>
            </a:r>
          </a:p>
          <a:p>
            <a:pPr marL="400050" lvl="1" indent="0" algn="just">
              <a:buNone/>
            </a:pPr>
            <a:endParaRPr lang="en-IN" sz="2000" dirty="0">
              <a:solidFill>
                <a:srgbClr val="273239"/>
              </a:solidFill>
              <a:latin typeface="Times New Roman" panose="02020603050405020304" pitchFamily="18" charset="0"/>
              <a:cs typeface="Times New Roman" panose="02020603050405020304" pitchFamily="18" charset="0"/>
            </a:endParaRPr>
          </a:p>
          <a:p>
            <a:pPr marL="400050" lvl="1" indent="0" algn="just">
              <a:buNone/>
            </a:pPr>
            <a:r>
              <a:rPr lang="en-US" sz="2000" b="0" i="0" dirty="0">
                <a:solidFill>
                  <a:srgbClr val="273239"/>
                </a:solidFill>
                <a:effectLst/>
                <a:latin typeface="Times New Roman" panose="02020603050405020304" pitchFamily="18" charset="0"/>
                <a:cs typeface="Times New Roman" panose="02020603050405020304" pitchFamily="18" charset="0"/>
              </a:rPr>
              <a:t>Market Based Analysis is one of the key techniques used by large relations to show associations between items. It allows retailers to identify relationships between the items that people buy together frequently.</a:t>
            </a:r>
          </a:p>
          <a:p>
            <a:pPr marL="400050" lvl="1" indent="0" algn="just">
              <a:buNone/>
            </a:pPr>
            <a:endParaRPr lang="en-US" sz="2000" dirty="0">
              <a:solidFill>
                <a:srgbClr val="273239"/>
              </a:solidFill>
              <a:latin typeface="Times New Roman" panose="02020603050405020304" pitchFamily="18" charset="0"/>
              <a:cs typeface="Times New Roman" panose="02020603050405020304" pitchFamily="18" charset="0"/>
            </a:endParaRPr>
          </a:p>
          <a:p>
            <a:pPr marL="400050" lvl="1" indent="0" algn="just">
              <a:buNone/>
            </a:pPr>
            <a:r>
              <a:rPr lang="en-US" sz="2000" dirty="0">
                <a:solidFill>
                  <a:srgbClr val="273239"/>
                </a:solidFill>
                <a:latin typeface="Times New Roman" panose="02020603050405020304" pitchFamily="18" charset="0"/>
                <a:cs typeface="Times New Roman" panose="02020603050405020304" pitchFamily="18" charset="0"/>
              </a:rPr>
              <a:t>In this scenario we have data about multiple orders. We apply Market Basket Analysis on given dataset to find which all items were bought together to come up with combo plans and also the recommend an item to be bought when certain items were bought.</a:t>
            </a:r>
          </a:p>
        </p:txBody>
      </p:sp>
    </p:spTree>
    <p:extLst>
      <p:ext uri="{BB962C8B-B14F-4D97-AF65-F5344CB8AC3E}">
        <p14:creationId xmlns:p14="http://schemas.microsoft.com/office/powerpoint/2010/main" val="2216279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6310C-7F42-39C5-A5A8-E03311420513}"/>
              </a:ext>
            </a:extLst>
          </p:cNvPr>
          <p:cNvSpPr>
            <a:spLocks noGrp="1"/>
          </p:cNvSpPr>
          <p:nvPr>
            <p:ph type="title"/>
          </p:nvPr>
        </p:nvSpPr>
        <p:spPr/>
        <p:txBody>
          <a:bodyPr/>
          <a:lstStyle/>
          <a:p>
            <a:r>
              <a:rPr lang="en-US" dirty="0"/>
              <a:t>KNIME Workflow </a:t>
            </a:r>
            <a:endParaRPr lang="en-IN" dirty="0"/>
          </a:p>
        </p:txBody>
      </p:sp>
      <p:pic>
        <p:nvPicPr>
          <p:cNvPr id="5" name="Picture 4">
            <a:extLst>
              <a:ext uri="{FF2B5EF4-FFF2-40B4-BE49-F238E27FC236}">
                <a16:creationId xmlns:a16="http://schemas.microsoft.com/office/drawing/2014/main" id="{9CA00228-3B27-35F6-2633-02786CA79641}"/>
              </a:ext>
            </a:extLst>
          </p:cNvPr>
          <p:cNvPicPr>
            <a:picLocks noChangeAspect="1"/>
          </p:cNvPicPr>
          <p:nvPr/>
        </p:nvPicPr>
        <p:blipFill>
          <a:blip r:embed="rId2"/>
          <a:stretch>
            <a:fillRect/>
          </a:stretch>
        </p:blipFill>
        <p:spPr>
          <a:xfrm>
            <a:off x="1454417" y="3158499"/>
            <a:ext cx="9875054" cy="1919507"/>
          </a:xfrm>
          <a:prstGeom prst="rect">
            <a:avLst/>
          </a:prstGeom>
        </p:spPr>
      </p:pic>
    </p:spTree>
    <p:extLst>
      <p:ext uri="{BB962C8B-B14F-4D97-AF65-F5344CB8AC3E}">
        <p14:creationId xmlns:p14="http://schemas.microsoft.com/office/powerpoint/2010/main" val="2289705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833E3-2333-93D4-67E1-84C84B61B1AA}"/>
              </a:ext>
            </a:extLst>
          </p:cNvPr>
          <p:cNvSpPr>
            <a:spLocks noGrp="1"/>
          </p:cNvSpPr>
          <p:nvPr>
            <p:ph type="title"/>
          </p:nvPr>
        </p:nvSpPr>
        <p:spPr/>
        <p:txBody>
          <a:bodyPr/>
          <a:lstStyle/>
          <a:p>
            <a:r>
              <a:rPr lang="en-US" dirty="0"/>
              <a:t>Threshold Values</a:t>
            </a:r>
            <a:endParaRPr lang="en-IN" dirty="0"/>
          </a:p>
        </p:txBody>
      </p:sp>
      <p:sp>
        <p:nvSpPr>
          <p:cNvPr id="3" name="Content Placeholder 2">
            <a:extLst>
              <a:ext uri="{FF2B5EF4-FFF2-40B4-BE49-F238E27FC236}">
                <a16:creationId xmlns:a16="http://schemas.microsoft.com/office/drawing/2014/main" id="{E47BB1E3-F8BA-BDA4-A882-78EB552404B9}"/>
              </a:ext>
            </a:extLst>
          </p:cNvPr>
          <p:cNvSpPr>
            <a:spLocks noGrp="1"/>
          </p:cNvSpPr>
          <p:nvPr>
            <p:ph idx="1"/>
          </p:nvPr>
        </p:nvSpPr>
        <p:spPr>
          <a:xfrm>
            <a:off x="1154954" y="2603500"/>
            <a:ext cx="9198868" cy="3416300"/>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For Building Association Rules we have configured following threshold Values</a:t>
            </a:r>
          </a:p>
          <a:p>
            <a:pPr>
              <a:lnSpc>
                <a:spcPct val="150000"/>
              </a:lnSpc>
            </a:pPr>
            <a:r>
              <a:rPr lang="en-US" sz="2000" dirty="0">
                <a:latin typeface="Times New Roman" panose="02020603050405020304" pitchFamily="18" charset="0"/>
                <a:cs typeface="Times New Roman" panose="02020603050405020304" pitchFamily="18" charset="0"/>
              </a:rPr>
              <a:t>Minimum Support: 0.05</a:t>
            </a:r>
          </a:p>
          <a:p>
            <a:pPr>
              <a:lnSpc>
                <a:spcPct val="150000"/>
              </a:lnSpc>
            </a:pPr>
            <a:r>
              <a:rPr lang="en-US" sz="2000" dirty="0">
                <a:latin typeface="Times New Roman" panose="02020603050405020304" pitchFamily="18" charset="0"/>
                <a:cs typeface="Times New Roman" panose="02020603050405020304" pitchFamily="18" charset="0"/>
              </a:rPr>
              <a:t>Minimum Confidence: 0.55</a:t>
            </a:r>
          </a:p>
          <a:p>
            <a:pPr>
              <a:lnSpc>
                <a:spcPct val="150000"/>
              </a:lnSpc>
            </a:pP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With the above threshold Values we have come up with 84 different Association Rules.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702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B2E6E-45F9-BD3B-5FDF-C75D87544D20}"/>
              </a:ext>
            </a:extLst>
          </p:cNvPr>
          <p:cNvSpPr>
            <a:spLocks noGrp="1"/>
          </p:cNvSpPr>
          <p:nvPr>
            <p:ph type="title"/>
          </p:nvPr>
        </p:nvSpPr>
        <p:spPr/>
        <p:txBody>
          <a:bodyPr/>
          <a:lstStyle/>
          <a:p>
            <a:r>
              <a:rPr lang="en-US" dirty="0"/>
              <a:t>Association Rules</a:t>
            </a:r>
            <a:endParaRPr lang="en-IN" dirty="0"/>
          </a:p>
        </p:txBody>
      </p:sp>
      <p:pic>
        <p:nvPicPr>
          <p:cNvPr id="5" name="Picture 4">
            <a:extLst>
              <a:ext uri="{FF2B5EF4-FFF2-40B4-BE49-F238E27FC236}">
                <a16:creationId xmlns:a16="http://schemas.microsoft.com/office/drawing/2014/main" id="{7DB5303E-9FA2-9621-AE96-AB02CEF9C405}"/>
              </a:ext>
            </a:extLst>
          </p:cNvPr>
          <p:cNvPicPr>
            <a:picLocks noChangeAspect="1"/>
          </p:cNvPicPr>
          <p:nvPr/>
        </p:nvPicPr>
        <p:blipFill>
          <a:blip r:embed="rId2"/>
          <a:stretch>
            <a:fillRect/>
          </a:stretch>
        </p:blipFill>
        <p:spPr>
          <a:xfrm>
            <a:off x="3132186" y="2474082"/>
            <a:ext cx="6124575" cy="4048125"/>
          </a:xfrm>
          <a:prstGeom prst="rect">
            <a:avLst/>
          </a:prstGeom>
        </p:spPr>
      </p:pic>
    </p:spTree>
    <p:extLst>
      <p:ext uri="{BB962C8B-B14F-4D97-AF65-F5344CB8AC3E}">
        <p14:creationId xmlns:p14="http://schemas.microsoft.com/office/powerpoint/2010/main" val="688957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B0DF28-C562-C445-9929-E6F07D1C5F52}"/>
              </a:ext>
            </a:extLst>
          </p:cNvPr>
          <p:cNvPicPr>
            <a:picLocks noChangeAspect="1"/>
          </p:cNvPicPr>
          <p:nvPr/>
        </p:nvPicPr>
        <p:blipFill>
          <a:blip r:embed="rId2"/>
          <a:stretch>
            <a:fillRect/>
          </a:stretch>
        </p:blipFill>
        <p:spPr>
          <a:xfrm>
            <a:off x="1845415" y="654312"/>
            <a:ext cx="8501170" cy="5549375"/>
          </a:xfrm>
          <a:prstGeom prst="rect">
            <a:avLst/>
          </a:prstGeom>
        </p:spPr>
      </p:pic>
    </p:spTree>
    <p:extLst>
      <p:ext uri="{BB962C8B-B14F-4D97-AF65-F5344CB8AC3E}">
        <p14:creationId xmlns:p14="http://schemas.microsoft.com/office/powerpoint/2010/main" val="4264325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B38D4E-B7CE-2323-7353-2EFBCA095513}"/>
              </a:ext>
            </a:extLst>
          </p:cNvPr>
          <p:cNvPicPr>
            <a:picLocks noChangeAspect="1"/>
          </p:cNvPicPr>
          <p:nvPr/>
        </p:nvPicPr>
        <p:blipFill>
          <a:blip r:embed="rId2"/>
          <a:stretch>
            <a:fillRect/>
          </a:stretch>
        </p:blipFill>
        <p:spPr>
          <a:xfrm>
            <a:off x="1698813" y="689317"/>
            <a:ext cx="8600625" cy="5605646"/>
          </a:xfrm>
          <a:prstGeom prst="rect">
            <a:avLst/>
          </a:prstGeom>
        </p:spPr>
      </p:pic>
    </p:spTree>
    <p:extLst>
      <p:ext uri="{BB962C8B-B14F-4D97-AF65-F5344CB8AC3E}">
        <p14:creationId xmlns:p14="http://schemas.microsoft.com/office/powerpoint/2010/main" val="448422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6E91FF-1053-7464-BB8E-B385BB06AD79}"/>
              </a:ext>
            </a:extLst>
          </p:cNvPr>
          <p:cNvPicPr>
            <a:picLocks noChangeAspect="1"/>
          </p:cNvPicPr>
          <p:nvPr/>
        </p:nvPicPr>
        <p:blipFill>
          <a:blip r:embed="rId2"/>
          <a:stretch>
            <a:fillRect/>
          </a:stretch>
        </p:blipFill>
        <p:spPr>
          <a:xfrm>
            <a:off x="1891742" y="692998"/>
            <a:ext cx="8408515" cy="5472003"/>
          </a:xfrm>
          <a:prstGeom prst="rect">
            <a:avLst/>
          </a:prstGeom>
        </p:spPr>
      </p:pic>
    </p:spTree>
    <p:extLst>
      <p:ext uri="{BB962C8B-B14F-4D97-AF65-F5344CB8AC3E}">
        <p14:creationId xmlns:p14="http://schemas.microsoft.com/office/powerpoint/2010/main" val="1281831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9A399-B42B-F440-0C62-263A2ABD1242}"/>
              </a:ext>
            </a:extLst>
          </p:cNvPr>
          <p:cNvSpPr>
            <a:spLocks noGrp="1"/>
          </p:cNvSpPr>
          <p:nvPr>
            <p:ph type="title"/>
          </p:nvPr>
        </p:nvSpPr>
        <p:spPr/>
        <p:txBody>
          <a:bodyPr/>
          <a:lstStyle/>
          <a:p>
            <a:r>
              <a:rPr lang="en-US" dirty="0"/>
              <a:t>Final Association Identified</a:t>
            </a:r>
            <a:endParaRPr lang="en-IN" dirty="0"/>
          </a:p>
        </p:txBody>
      </p:sp>
      <p:graphicFrame>
        <p:nvGraphicFramePr>
          <p:cNvPr id="11" name="Content Placeholder 10">
            <a:extLst>
              <a:ext uri="{FF2B5EF4-FFF2-40B4-BE49-F238E27FC236}">
                <a16:creationId xmlns:a16="http://schemas.microsoft.com/office/drawing/2014/main" id="{2533C1D2-DB2A-AFB3-6EE7-1111F21B451B}"/>
              </a:ext>
            </a:extLst>
          </p:cNvPr>
          <p:cNvGraphicFramePr>
            <a:graphicFrameLocks noGrp="1" noChangeAspect="1"/>
          </p:cNvGraphicFramePr>
          <p:nvPr>
            <p:ph idx="1"/>
            <p:extLst>
              <p:ext uri="{D42A27DB-BD31-4B8C-83A1-F6EECF244321}">
                <p14:modId xmlns:p14="http://schemas.microsoft.com/office/powerpoint/2010/main" val="2167602633"/>
              </p:ext>
            </p:extLst>
          </p:nvPr>
        </p:nvGraphicFramePr>
        <p:xfrm>
          <a:off x="3084416" y="3429000"/>
          <a:ext cx="1783006" cy="1504411"/>
        </p:xfrm>
        <a:graphic>
          <a:graphicData uri="http://schemas.openxmlformats.org/presentationml/2006/ole">
            <mc:AlternateContent xmlns:mc="http://schemas.openxmlformats.org/markup-compatibility/2006">
              <mc:Choice xmlns:v="urn:schemas-microsoft-com:vml" Requires="v">
                <p:oleObj name="Worksheet" showAsIcon="1" r:id="rId2" imgW="914400" imgH="771480" progId="Excel.Sheet.12">
                  <p:embed/>
                </p:oleObj>
              </mc:Choice>
              <mc:Fallback>
                <p:oleObj name="Worksheet" showAsIcon="1" r:id="rId2" imgW="914400" imgH="771480" progId="Excel.Sheet.12">
                  <p:embed/>
                  <p:pic>
                    <p:nvPicPr>
                      <p:cNvPr id="0" name=""/>
                      <p:cNvPicPr/>
                      <p:nvPr/>
                    </p:nvPicPr>
                    <p:blipFill>
                      <a:blip r:embed="rId3"/>
                      <a:stretch>
                        <a:fillRect/>
                      </a:stretch>
                    </p:blipFill>
                    <p:spPr>
                      <a:xfrm>
                        <a:off x="3084416" y="3429000"/>
                        <a:ext cx="1783006" cy="1504411"/>
                      </a:xfrm>
                      <a:prstGeom prst="rect">
                        <a:avLst/>
                      </a:prstGeom>
                    </p:spPr>
                  </p:pic>
                </p:oleObj>
              </mc:Fallback>
            </mc:AlternateContent>
          </a:graphicData>
        </a:graphic>
      </p:graphicFrame>
    </p:spTree>
    <p:extLst>
      <p:ext uri="{BB962C8B-B14F-4D97-AF65-F5344CB8AC3E}">
        <p14:creationId xmlns:p14="http://schemas.microsoft.com/office/powerpoint/2010/main" val="1464590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9C2A-F0FC-97A0-3769-F860D9B2FA7C}"/>
              </a:ext>
            </a:extLst>
          </p:cNvPr>
          <p:cNvSpPr>
            <a:spLocks noGrp="1"/>
          </p:cNvSpPr>
          <p:nvPr>
            <p:ph type="title"/>
          </p:nvPr>
        </p:nvSpPr>
        <p:spPr/>
        <p:txBody>
          <a:bodyPr/>
          <a:lstStyle/>
          <a:p>
            <a:r>
              <a:rPr lang="en-US" dirty="0"/>
              <a:t>Support</a:t>
            </a:r>
            <a:endParaRPr lang="en-IN" dirty="0"/>
          </a:p>
        </p:txBody>
      </p:sp>
      <p:sp>
        <p:nvSpPr>
          <p:cNvPr id="3" name="Content Placeholder 2">
            <a:extLst>
              <a:ext uri="{FF2B5EF4-FFF2-40B4-BE49-F238E27FC236}">
                <a16:creationId xmlns:a16="http://schemas.microsoft.com/office/drawing/2014/main" id="{049B17A4-C9E6-C471-9171-36D28B61D6AA}"/>
              </a:ext>
            </a:extLst>
          </p:cNvPr>
          <p:cNvSpPr>
            <a:spLocks noGrp="1"/>
          </p:cNvSpPr>
          <p:nvPr>
            <p:ph idx="1"/>
          </p:nvPr>
        </p:nvSpPr>
        <p:spPr>
          <a:xfrm>
            <a:off x="1154954" y="2603500"/>
            <a:ext cx="9606831" cy="3416300"/>
          </a:xfrm>
        </p:spPr>
        <p:txBody>
          <a:bodyPr>
            <a:normAutofit/>
          </a:bodyPr>
          <a:lstStyle/>
          <a:p>
            <a:pPr algn="just">
              <a:lnSpc>
                <a:spcPct val="150000"/>
              </a:lnSpc>
            </a:pPr>
            <a:r>
              <a:rPr lang="en-US" sz="2000" dirty="0">
                <a:solidFill>
                  <a:srgbClr val="555555"/>
                </a:solidFill>
                <a:latin typeface="Times New Roman" panose="02020603050405020304" pitchFamily="18" charset="0"/>
                <a:cs typeface="Times New Roman" panose="02020603050405020304" pitchFamily="18" charset="0"/>
              </a:rPr>
              <a:t>T</a:t>
            </a:r>
            <a:r>
              <a:rPr lang="en-US" sz="2000" b="0" i="0" dirty="0">
                <a:solidFill>
                  <a:srgbClr val="555555"/>
                </a:solidFill>
                <a:effectLst/>
                <a:latin typeface="Times New Roman" panose="02020603050405020304" pitchFamily="18" charset="0"/>
                <a:cs typeface="Times New Roman" panose="02020603050405020304" pitchFamily="18" charset="0"/>
              </a:rPr>
              <a:t>he percentage of transactions that contain all of the items in an basket.</a:t>
            </a:r>
          </a:p>
          <a:p>
            <a:pPr algn="just">
              <a:lnSpc>
                <a:spcPct val="150000"/>
              </a:lnSpc>
            </a:pPr>
            <a:r>
              <a:rPr lang="en-US" sz="2000" b="0" i="0" dirty="0">
                <a:solidFill>
                  <a:srgbClr val="555555"/>
                </a:solidFill>
                <a:effectLst/>
                <a:latin typeface="Times New Roman" panose="02020603050405020304" pitchFamily="18" charset="0"/>
                <a:cs typeface="Times New Roman" panose="02020603050405020304" pitchFamily="18" charset="0"/>
              </a:rPr>
              <a:t>The higher the support the more frequently the basket occurs.</a:t>
            </a:r>
          </a:p>
          <a:p>
            <a:pPr algn="just">
              <a:lnSpc>
                <a:spcPct val="150000"/>
              </a:lnSpc>
            </a:pPr>
            <a:r>
              <a:rPr lang="en-US" sz="2000" b="0" i="0" dirty="0">
                <a:solidFill>
                  <a:srgbClr val="555555"/>
                </a:solidFill>
                <a:effectLst/>
                <a:latin typeface="Times New Roman" panose="02020603050405020304" pitchFamily="18" charset="0"/>
                <a:cs typeface="Times New Roman" panose="02020603050405020304" pitchFamily="18" charset="0"/>
              </a:rPr>
              <a:t> Rules with a high support are preferred since they are likely to be applicable to a large number of future transactions.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7946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76FC-D786-10DF-946F-1969989D1D95}"/>
              </a:ext>
            </a:extLst>
          </p:cNvPr>
          <p:cNvSpPr>
            <a:spLocks noGrp="1"/>
          </p:cNvSpPr>
          <p:nvPr>
            <p:ph type="title"/>
          </p:nvPr>
        </p:nvSpPr>
        <p:spPr/>
        <p:txBody>
          <a:bodyPr/>
          <a:lstStyle/>
          <a:p>
            <a:r>
              <a:rPr lang="en-US" dirty="0"/>
              <a:t>Confidence</a:t>
            </a:r>
            <a:endParaRPr lang="en-IN" dirty="0"/>
          </a:p>
        </p:txBody>
      </p:sp>
      <p:sp>
        <p:nvSpPr>
          <p:cNvPr id="3" name="Content Placeholder 2">
            <a:extLst>
              <a:ext uri="{FF2B5EF4-FFF2-40B4-BE49-F238E27FC236}">
                <a16:creationId xmlns:a16="http://schemas.microsoft.com/office/drawing/2014/main" id="{0E967D25-20CA-6AAC-37AE-EA9BE6D21DDD}"/>
              </a:ext>
            </a:extLst>
          </p:cNvPr>
          <p:cNvSpPr>
            <a:spLocks noGrp="1"/>
          </p:cNvSpPr>
          <p:nvPr>
            <p:ph idx="1"/>
          </p:nvPr>
        </p:nvSpPr>
        <p:spPr/>
        <p:txBody>
          <a:bodyPr>
            <a:normAutofit/>
          </a:bodyPr>
          <a:lstStyle/>
          <a:p>
            <a:pPr algn="just">
              <a:lnSpc>
                <a:spcPct val="150000"/>
              </a:lnSpc>
            </a:pPr>
            <a:r>
              <a:rPr lang="en-US" sz="2000" b="0" i="0" dirty="0">
                <a:solidFill>
                  <a:srgbClr val="555555"/>
                </a:solidFill>
                <a:effectLst/>
                <a:latin typeface="Times New Roman" panose="02020603050405020304" pitchFamily="18" charset="0"/>
                <a:cs typeface="Times New Roman" panose="02020603050405020304" pitchFamily="18" charset="0"/>
              </a:rPr>
              <a:t>The probability that a transaction that contains the items in the basket  also contains the item on recommended column.</a:t>
            </a:r>
          </a:p>
          <a:p>
            <a:pPr algn="just">
              <a:lnSpc>
                <a:spcPct val="150000"/>
              </a:lnSpc>
            </a:pPr>
            <a:r>
              <a:rPr lang="en-US" sz="2000" b="0" i="0" dirty="0">
                <a:solidFill>
                  <a:srgbClr val="555555"/>
                </a:solidFill>
                <a:effectLst/>
                <a:latin typeface="Times New Roman" panose="02020603050405020304" pitchFamily="18" charset="0"/>
                <a:cs typeface="Times New Roman" panose="02020603050405020304" pitchFamily="18" charset="0"/>
              </a:rPr>
              <a:t>The higher the confidence, the greater the likelihood that the item in recommended column will be purchased or, in other words, the greater the return rate you can expect for a given rule.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985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5466C-BFB7-85C4-EF49-68AD67F8A767}"/>
              </a:ext>
            </a:extLst>
          </p:cNvPr>
          <p:cNvSpPr>
            <a:spLocks noGrp="1"/>
          </p:cNvSpPr>
          <p:nvPr>
            <p:ph type="title"/>
          </p:nvPr>
        </p:nvSpPr>
        <p:spPr/>
        <p:txBody>
          <a:bodyPr/>
          <a:lstStyle/>
          <a:p>
            <a:r>
              <a:rPr lang="en-US" dirty="0"/>
              <a:t>Lift</a:t>
            </a:r>
            <a:endParaRPr lang="en-IN" dirty="0"/>
          </a:p>
        </p:txBody>
      </p:sp>
      <p:sp>
        <p:nvSpPr>
          <p:cNvPr id="3" name="Content Placeholder 2">
            <a:extLst>
              <a:ext uri="{FF2B5EF4-FFF2-40B4-BE49-F238E27FC236}">
                <a16:creationId xmlns:a16="http://schemas.microsoft.com/office/drawing/2014/main" id="{1BEB33A4-3E07-BFFB-919E-ECF0AE63ABBB}"/>
              </a:ext>
            </a:extLst>
          </p:cNvPr>
          <p:cNvSpPr>
            <a:spLocks noGrp="1"/>
          </p:cNvSpPr>
          <p:nvPr>
            <p:ph idx="1"/>
          </p:nvPr>
        </p:nvSpPr>
        <p:spPr>
          <a:xfrm>
            <a:off x="1154954" y="2603500"/>
            <a:ext cx="9691237" cy="3530014"/>
          </a:xfrm>
        </p:spPr>
        <p:txBody>
          <a:bodyPr>
            <a:normAutofit/>
          </a:bodyPr>
          <a:lstStyle/>
          <a:p>
            <a:pPr algn="just">
              <a:lnSpc>
                <a:spcPct val="150000"/>
              </a:lnSpc>
            </a:pPr>
            <a:r>
              <a:rPr lang="en-US" sz="2000" i="0" dirty="0">
                <a:solidFill>
                  <a:srgbClr val="555555"/>
                </a:solidFill>
                <a:effectLst/>
                <a:latin typeface="Times New Roman" panose="02020603050405020304" pitchFamily="18" charset="0"/>
                <a:cs typeface="Times New Roman" panose="02020603050405020304" pitchFamily="18" charset="0"/>
              </a:rPr>
              <a:t>The</a:t>
            </a:r>
            <a:r>
              <a:rPr lang="en-US" sz="2000" b="1" i="0" dirty="0">
                <a:solidFill>
                  <a:srgbClr val="555555"/>
                </a:solidFill>
                <a:effectLst/>
                <a:latin typeface="Times New Roman" panose="02020603050405020304" pitchFamily="18" charset="0"/>
                <a:cs typeface="Times New Roman" panose="02020603050405020304" pitchFamily="18" charset="0"/>
              </a:rPr>
              <a:t> </a:t>
            </a:r>
            <a:r>
              <a:rPr lang="en-US" sz="2000" b="0" i="0" dirty="0">
                <a:solidFill>
                  <a:srgbClr val="555555"/>
                </a:solidFill>
                <a:effectLst/>
                <a:latin typeface="Times New Roman" panose="02020603050405020304" pitchFamily="18" charset="0"/>
                <a:cs typeface="Times New Roman" panose="02020603050405020304" pitchFamily="18" charset="0"/>
              </a:rPr>
              <a:t>probability of all of the items in a rule occurring together (otherwise known as the support) divided by the product of the probabilities of the items in the basket and recommendation occurring as if there was no association between them.</a:t>
            </a:r>
          </a:p>
          <a:p>
            <a:pPr algn="just">
              <a:lnSpc>
                <a:spcPct val="150000"/>
              </a:lnSpc>
            </a:pPr>
            <a:r>
              <a:rPr lang="en-US" sz="2000" b="0" i="0" dirty="0">
                <a:solidFill>
                  <a:srgbClr val="555555"/>
                </a:solidFill>
                <a:effectLst/>
                <a:latin typeface="Ubuntu" panose="020B0504030602030204" pitchFamily="34" charset="0"/>
              </a:rPr>
              <a:t>Lift summarizes the strength of association between the products in the basket and recommendation of the rule.</a:t>
            </a:r>
          </a:p>
          <a:p>
            <a:pPr algn="just">
              <a:lnSpc>
                <a:spcPct val="150000"/>
              </a:lnSpc>
            </a:pPr>
            <a:r>
              <a:rPr lang="en-US" sz="2000" dirty="0">
                <a:solidFill>
                  <a:srgbClr val="555555"/>
                </a:solidFill>
                <a:latin typeface="Ubuntu" panose="020B0504030602030204" pitchFamily="34" charset="0"/>
              </a:rPr>
              <a:t>T</a:t>
            </a:r>
            <a:r>
              <a:rPr lang="en-US" sz="2000" b="0" i="0" dirty="0">
                <a:solidFill>
                  <a:srgbClr val="555555"/>
                </a:solidFill>
                <a:effectLst/>
                <a:latin typeface="Ubuntu" panose="020B0504030602030204" pitchFamily="34" charset="0"/>
              </a:rPr>
              <a:t>he larger the lift the greater the link between the two products.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5633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9FFE-2ADC-2F3F-B77F-383F9DA2A2B4}"/>
              </a:ext>
            </a:extLst>
          </p:cNvPr>
          <p:cNvSpPr>
            <a:spLocks noGrp="1"/>
          </p:cNvSpPr>
          <p:nvPr>
            <p:ph type="title"/>
          </p:nvPr>
        </p:nvSpPr>
        <p:spPr/>
        <p:txBody>
          <a:bodyPr/>
          <a:lstStyle/>
          <a:p>
            <a:r>
              <a:rPr lang="en-US" dirty="0"/>
              <a:t>Recommendations Based on Association Rules</a:t>
            </a:r>
            <a:endParaRPr lang="en-IN" dirty="0"/>
          </a:p>
        </p:txBody>
      </p:sp>
      <p:sp>
        <p:nvSpPr>
          <p:cNvPr id="3" name="Content Placeholder 2">
            <a:extLst>
              <a:ext uri="{FF2B5EF4-FFF2-40B4-BE49-F238E27FC236}">
                <a16:creationId xmlns:a16="http://schemas.microsoft.com/office/drawing/2014/main" id="{D5497DB8-64AD-4E39-ECC6-0FAC2E26B38D}"/>
              </a:ext>
            </a:extLst>
          </p:cNvPr>
          <p:cNvSpPr>
            <a:spLocks noGrp="1"/>
          </p:cNvSpPr>
          <p:nvPr>
            <p:ph idx="1"/>
          </p:nvPr>
        </p:nvSpPr>
        <p:spPr>
          <a:xfrm>
            <a:off x="1154954" y="2603499"/>
            <a:ext cx="8825659" cy="4036451"/>
          </a:xfrm>
        </p:spPr>
        <p:txBody>
          <a:bodyPr/>
          <a:lstStyle/>
          <a:p>
            <a:pPr>
              <a:lnSpc>
                <a:spcPct val="150000"/>
              </a:lnSpc>
            </a:pPr>
            <a:r>
              <a:rPr lang="en-US" dirty="0">
                <a:latin typeface="Times New Roman" panose="02020603050405020304" pitchFamily="18" charset="0"/>
                <a:cs typeface="Times New Roman" panose="02020603050405020304" pitchFamily="18" charset="0"/>
              </a:rPr>
              <a:t>When </a:t>
            </a:r>
            <a:r>
              <a:rPr lang="en-IN" dirty="0">
                <a:latin typeface="Times New Roman" panose="02020603050405020304" pitchFamily="18" charset="0"/>
                <a:cs typeface="Times New Roman" panose="02020603050405020304" pitchFamily="18" charset="0"/>
              </a:rPr>
              <a:t>eggs, ice cream, pasta  are bought provide discounts on paper towels.</a:t>
            </a:r>
          </a:p>
          <a:p>
            <a:pPr>
              <a:lnSpc>
                <a:spcPct val="150000"/>
              </a:lnSpc>
            </a:pPr>
            <a:r>
              <a:rPr lang="en-IN" dirty="0">
                <a:latin typeface="Times New Roman" panose="02020603050405020304" pitchFamily="18" charset="0"/>
                <a:cs typeface="Times New Roman" panose="02020603050405020304" pitchFamily="18" charset="0"/>
              </a:rPr>
              <a:t>When yogurt, cheeses, cereals are bought provide discounts on coffee/Tea.</a:t>
            </a:r>
          </a:p>
          <a:p>
            <a:pPr>
              <a:lnSpc>
                <a:spcPct val="150000"/>
              </a:lnSpc>
            </a:pPr>
            <a:r>
              <a:rPr lang="en-IN" dirty="0">
                <a:latin typeface="Times New Roman" panose="02020603050405020304" pitchFamily="18" charset="0"/>
                <a:cs typeface="Times New Roman" panose="02020603050405020304" pitchFamily="18" charset="0"/>
              </a:rPr>
              <a:t>When bagels, cereals, sandwich bags are bought provide discounts on  cheeses.</a:t>
            </a:r>
          </a:p>
          <a:p>
            <a:pPr>
              <a:lnSpc>
                <a:spcPct val="150000"/>
              </a:lnSpc>
            </a:pPr>
            <a:r>
              <a:rPr lang="en-IN" dirty="0">
                <a:latin typeface="Times New Roman" panose="02020603050405020304" pitchFamily="18" charset="0"/>
                <a:cs typeface="Times New Roman" panose="02020603050405020304" pitchFamily="18" charset="0"/>
              </a:rPr>
              <a:t>When yogurt, poultry, </a:t>
            </a:r>
            <a:r>
              <a:rPr lang="en-IN" dirty="0" err="1">
                <a:latin typeface="Times New Roman" panose="02020603050405020304" pitchFamily="18" charset="0"/>
                <a:cs typeface="Times New Roman" panose="02020603050405020304" pitchFamily="18" charset="0"/>
              </a:rPr>
              <a:t>aluminum</a:t>
            </a:r>
            <a:r>
              <a:rPr lang="en-IN" dirty="0">
                <a:latin typeface="Times New Roman" panose="02020603050405020304" pitchFamily="18" charset="0"/>
                <a:cs typeface="Times New Roman" panose="02020603050405020304" pitchFamily="18" charset="0"/>
              </a:rPr>
              <a:t> foil are bought provide discounts on mixes</a:t>
            </a:r>
          </a:p>
          <a:p>
            <a:pPr>
              <a:lnSpc>
                <a:spcPct val="150000"/>
              </a:lnSpc>
            </a:pPr>
            <a:r>
              <a:rPr lang="en-IN" dirty="0">
                <a:latin typeface="Times New Roman" panose="02020603050405020304" pitchFamily="18" charset="0"/>
                <a:cs typeface="Times New Roman" panose="02020603050405020304" pitchFamily="18" charset="0"/>
              </a:rPr>
              <a:t>When food items are bought give discounts on packaging items used for packing food.</a:t>
            </a:r>
          </a:p>
          <a:p>
            <a:pPr>
              <a:lnSpc>
                <a:spcPct val="150000"/>
              </a:lnSpc>
            </a:pPr>
            <a:r>
              <a:rPr lang="en-IN" dirty="0">
                <a:latin typeface="Times New Roman" panose="02020603050405020304" pitchFamily="18" charset="0"/>
                <a:cs typeface="Times New Roman" panose="02020603050405020304" pitchFamily="18" charset="0"/>
              </a:rPr>
              <a:t>When food items are bought provide combo offers with beverages.</a:t>
            </a:r>
          </a:p>
        </p:txBody>
      </p:sp>
    </p:spTree>
    <p:extLst>
      <p:ext uri="{BB962C8B-B14F-4D97-AF65-F5344CB8AC3E}">
        <p14:creationId xmlns:p14="http://schemas.microsoft.com/office/powerpoint/2010/main" val="1059198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3B586-C824-AFEA-5053-6A1DA348ED14}"/>
              </a:ext>
            </a:extLst>
          </p:cNvPr>
          <p:cNvSpPr>
            <a:spLocks noGrp="1"/>
          </p:cNvSpPr>
          <p:nvPr>
            <p:ph type="title"/>
          </p:nvPr>
        </p:nvSpPr>
        <p:spPr/>
        <p:txBody>
          <a:bodyPr/>
          <a:lstStyle/>
          <a:p>
            <a:r>
              <a:rPr lang="en-US" dirty="0"/>
              <a:t>Recommended Food Combos</a:t>
            </a:r>
            <a:endParaRPr lang="en-IN" dirty="0"/>
          </a:p>
        </p:txBody>
      </p:sp>
      <p:sp>
        <p:nvSpPr>
          <p:cNvPr id="3" name="Content Placeholder 2">
            <a:extLst>
              <a:ext uri="{FF2B5EF4-FFF2-40B4-BE49-F238E27FC236}">
                <a16:creationId xmlns:a16="http://schemas.microsoft.com/office/drawing/2014/main" id="{282682F1-D0A9-A57B-D517-E8D2937ED09F}"/>
              </a:ext>
            </a:extLst>
          </p:cNvPr>
          <p:cNvSpPr>
            <a:spLocks noGrp="1"/>
          </p:cNvSpPr>
          <p:nvPr>
            <p:ph idx="1"/>
          </p:nvPr>
        </p:nvSpPr>
        <p:spPr>
          <a:xfrm>
            <a:off x="1154954" y="2405575"/>
            <a:ext cx="8825659" cy="4178105"/>
          </a:xfrm>
        </p:spPr>
        <p:txBody>
          <a:bodyPr/>
          <a:lstStyle/>
          <a:p>
            <a:r>
              <a:rPr lang="it-IT" sz="1800" b="0" i="0" u="none" strike="noStrike" dirty="0">
                <a:solidFill>
                  <a:srgbClr val="000000"/>
                </a:solidFill>
                <a:effectLst/>
                <a:latin typeface="Times New Roman" panose="02020603050405020304" pitchFamily="18" charset="0"/>
                <a:cs typeface="Times New Roman" panose="02020603050405020304" pitchFamily="18" charset="0"/>
              </a:rPr>
              <a:t>spaghetti sauce, poultry, ice cream</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 dinner rolls</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spaghetti sauce, poultry, cereals</a:t>
            </a:r>
            <a:r>
              <a:rPr lang="en-IN" dirty="0">
                <a:solidFill>
                  <a:srgbClr val="000000"/>
                </a:solidFill>
                <a:latin typeface="Times New Roman" panose="02020603050405020304" pitchFamily="18" charset="0"/>
                <a:cs typeface="Times New Roman" panose="02020603050405020304" pitchFamily="18" charset="0"/>
              </a:rPr>
              <a:t>, dinner rolls</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yogurt, cheeses, cereals</a:t>
            </a:r>
            <a:r>
              <a:rPr lang="en-IN" dirty="0">
                <a:solidFill>
                  <a:srgbClr val="000000"/>
                </a:solidFill>
                <a:latin typeface="Times New Roman" panose="02020603050405020304" pitchFamily="18" charset="0"/>
                <a:cs typeface="Times New Roman" panose="02020603050405020304" pitchFamily="18" charset="0"/>
              </a:rPr>
              <a:t>, coffee/Tea</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spaghetti sauce, poultry, juice, dinner rolls</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dinner rolls, poultry, soda</a:t>
            </a:r>
            <a:r>
              <a:rPr lang="en-IN" dirty="0">
                <a:solidFill>
                  <a:srgbClr val="000000"/>
                </a:solidFill>
                <a:latin typeface="Times New Roman" panose="02020603050405020304" pitchFamily="18" charset="0"/>
                <a:cs typeface="Times New Roman" panose="02020603050405020304" pitchFamily="18" charset="0"/>
              </a:rPr>
              <a:t>, eggs</a:t>
            </a:r>
          </a:p>
          <a:p>
            <a:r>
              <a:rPr lang="en-US" sz="1800" b="0" i="0" u="none" strike="noStrike" dirty="0">
                <a:solidFill>
                  <a:srgbClr val="000000"/>
                </a:solidFill>
                <a:effectLst/>
                <a:latin typeface="Times New Roman" panose="02020603050405020304" pitchFamily="18" charset="0"/>
                <a:cs typeface="Times New Roman" panose="02020603050405020304" pitchFamily="18" charset="0"/>
              </a:rPr>
              <a:t>dinner rolls, poultry, ice cream, </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spaghetti sauce</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dinner rolls, poultry, juice, spaghetti sauce</a:t>
            </a:r>
            <a:endParaRPr lang="en-IN" dirty="0">
              <a:solidFill>
                <a:srgbClr val="000000"/>
              </a:solidFill>
              <a:latin typeface="Times New Roman" panose="02020603050405020304" pitchFamily="18" charset="0"/>
              <a:cs typeface="Times New Roman" panose="02020603050405020304" pitchFamily="18" charset="0"/>
            </a:endParaRP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yogurt, cereals, coffee/tea, cheeses</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dinner rolls, spaghetti sauce, cereals</a:t>
            </a:r>
            <a:r>
              <a:rPr lang="en-IN" dirty="0">
                <a:solidFill>
                  <a:srgbClr val="000000"/>
                </a:solidFill>
                <a:latin typeface="Times New Roman" panose="02020603050405020304" pitchFamily="18" charset="0"/>
                <a:cs typeface="Times New Roman" panose="02020603050405020304" pitchFamily="18" charset="0"/>
              </a:rPr>
              <a:t>, poultry</a:t>
            </a:r>
          </a:p>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sandwich loaves, lunch meat, individual meals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827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7A7A3-D293-A15C-BABD-E17ECB7F611F}"/>
              </a:ext>
            </a:extLst>
          </p:cNvPr>
          <p:cNvSpPr>
            <a:spLocks noGrp="1"/>
          </p:cNvSpPr>
          <p:nvPr>
            <p:ph type="title"/>
          </p:nvPr>
        </p:nvSpPr>
        <p:spPr/>
        <p:txBody>
          <a:bodyPr/>
          <a:lstStyle/>
          <a:p>
            <a:r>
              <a:rPr lang="en-US" dirty="0"/>
              <a:t>Association Rules for food items </a:t>
            </a:r>
            <a:endParaRPr lang="en-IN" dirty="0"/>
          </a:p>
        </p:txBody>
      </p:sp>
      <p:graphicFrame>
        <p:nvGraphicFramePr>
          <p:cNvPr id="3" name="Object 2">
            <a:extLst>
              <a:ext uri="{FF2B5EF4-FFF2-40B4-BE49-F238E27FC236}">
                <a16:creationId xmlns:a16="http://schemas.microsoft.com/office/drawing/2014/main" id="{48D28FC5-B0DA-7EEB-ACF9-BAA5B1DED685}"/>
              </a:ext>
            </a:extLst>
          </p:cNvPr>
          <p:cNvGraphicFramePr>
            <a:graphicFrameLocks noChangeAspect="1"/>
          </p:cNvGraphicFramePr>
          <p:nvPr>
            <p:extLst>
              <p:ext uri="{D42A27DB-BD31-4B8C-83A1-F6EECF244321}">
                <p14:modId xmlns:p14="http://schemas.microsoft.com/office/powerpoint/2010/main" val="3768253614"/>
              </p:ext>
            </p:extLst>
          </p:nvPr>
        </p:nvGraphicFramePr>
        <p:xfrm>
          <a:off x="4949482" y="3759102"/>
          <a:ext cx="1817077" cy="1533159"/>
        </p:xfrm>
        <a:graphic>
          <a:graphicData uri="http://schemas.openxmlformats.org/presentationml/2006/ole">
            <mc:AlternateContent xmlns:mc="http://schemas.openxmlformats.org/markup-compatibility/2006">
              <mc:Choice xmlns:v="urn:schemas-microsoft-com:vml" Requires="v">
                <p:oleObj name="Worksheet" showAsIcon="1" r:id="rId2" imgW="914400" imgH="771480" progId="Excel.Sheet.12">
                  <p:embed/>
                </p:oleObj>
              </mc:Choice>
              <mc:Fallback>
                <p:oleObj name="Worksheet" showAsIcon="1" r:id="rId2" imgW="914400" imgH="771480" progId="Excel.Sheet.12">
                  <p:embed/>
                  <p:pic>
                    <p:nvPicPr>
                      <p:cNvPr id="0" name=""/>
                      <p:cNvPicPr/>
                      <p:nvPr/>
                    </p:nvPicPr>
                    <p:blipFill>
                      <a:blip r:embed="rId3"/>
                      <a:stretch>
                        <a:fillRect/>
                      </a:stretch>
                    </p:blipFill>
                    <p:spPr>
                      <a:xfrm>
                        <a:off x="4949482" y="3759102"/>
                        <a:ext cx="1817077" cy="1533159"/>
                      </a:xfrm>
                      <a:prstGeom prst="rect">
                        <a:avLst/>
                      </a:prstGeom>
                    </p:spPr>
                  </p:pic>
                </p:oleObj>
              </mc:Fallback>
            </mc:AlternateContent>
          </a:graphicData>
        </a:graphic>
      </p:graphicFrame>
    </p:spTree>
    <p:extLst>
      <p:ext uri="{BB962C8B-B14F-4D97-AF65-F5344CB8AC3E}">
        <p14:creationId xmlns:p14="http://schemas.microsoft.com/office/powerpoint/2010/main" val="549867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BB206BE-1C25-E082-A18D-520A6158A337}"/>
              </a:ext>
            </a:extLst>
          </p:cNvPr>
          <p:cNvSpPr>
            <a:spLocks noGrp="1"/>
          </p:cNvSpPr>
          <p:nvPr>
            <p:ph type="subTitle" idx="1"/>
          </p:nvPr>
        </p:nvSpPr>
        <p:spPr/>
        <p:txBody>
          <a:bodyPr>
            <a:normAutofit lnSpcReduction="10000"/>
          </a:bodyPr>
          <a:lstStyle/>
          <a:p>
            <a:pPr algn="r"/>
            <a:r>
              <a:rPr lang="en-US" sz="5400" dirty="0"/>
              <a:t>THANK YOU</a:t>
            </a:r>
            <a:endParaRPr lang="en-IN" sz="5400" dirty="0"/>
          </a:p>
        </p:txBody>
      </p:sp>
    </p:spTree>
    <p:extLst>
      <p:ext uri="{BB962C8B-B14F-4D97-AF65-F5344CB8AC3E}">
        <p14:creationId xmlns:p14="http://schemas.microsoft.com/office/powerpoint/2010/main" val="1878032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188</TotalTime>
  <Words>719</Words>
  <Application>Microsoft Office PowerPoint</Application>
  <PresentationFormat>Widescreen</PresentationFormat>
  <Paragraphs>69</Paragraphs>
  <Slides>22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0" baseType="lpstr">
      <vt:lpstr>Arial</vt:lpstr>
      <vt:lpstr>Century Gothic</vt:lpstr>
      <vt:lpstr>lato</vt:lpstr>
      <vt:lpstr>Times New Roman</vt:lpstr>
      <vt:lpstr>Ubuntu</vt:lpstr>
      <vt:lpstr>Wingdings 3</vt:lpstr>
      <vt:lpstr>Ion Boardroom</vt:lpstr>
      <vt:lpstr>Microsoft Excel Worksheet</vt:lpstr>
      <vt:lpstr>MRA Project - Milestone 2</vt:lpstr>
      <vt:lpstr>Table Of Content</vt:lpstr>
      <vt:lpstr>Problem Statement</vt:lpstr>
      <vt:lpstr>About Data</vt:lpstr>
      <vt:lpstr>Exploratory Analysis – Yearly Trend</vt:lpstr>
      <vt:lpstr>Year Wise - Quarterly Trend</vt:lpstr>
      <vt:lpstr>Year Wise - Monthly Trend</vt:lpstr>
      <vt:lpstr>Association Rules</vt:lpstr>
      <vt:lpstr>KNIME Workflow </vt:lpstr>
      <vt:lpstr>Threshold Values</vt:lpstr>
      <vt:lpstr>Association Rules</vt:lpstr>
      <vt:lpstr>PowerPoint Presentation</vt:lpstr>
      <vt:lpstr>PowerPoint Presentation</vt:lpstr>
      <vt:lpstr>PowerPoint Presentation</vt:lpstr>
      <vt:lpstr>Final Association Identified</vt:lpstr>
      <vt:lpstr>Support</vt:lpstr>
      <vt:lpstr>Confidence</vt:lpstr>
      <vt:lpstr>Lift</vt:lpstr>
      <vt:lpstr>Recommendations Based on Association Rules</vt:lpstr>
      <vt:lpstr>Recommended Food Combos</vt:lpstr>
      <vt:lpstr>Association Rules for food items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 Milestone 2</dc:title>
  <dc:creator>kiran nagabhushana</dc:creator>
  <cp:lastModifiedBy>kiran nagabhushana</cp:lastModifiedBy>
  <cp:revision>7</cp:revision>
  <dcterms:created xsi:type="dcterms:W3CDTF">2022-09-11T12:49:20Z</dcterms:created>
  <dcterms:modified xsi:type="dcterms:W3CDTF">2022-09-11T15:58:16Z</dcterms:modified>
</cp:coreProperties>
</file>